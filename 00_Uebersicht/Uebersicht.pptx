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7"/>
  </p:notesMasterIdLst>
  <p:sldIdLst>
    <p:sldId id="464" r:id="rId5"/>
    <p:sldId id="456" r:id="rId6"/>
    <p:sldId id="457" r:id="rId7"/>
    <p:sldId id="458" r:id="rId8"/>
    <p:sldId id="460" r:id="rId9"/>
    <p:sldId id="459" r:id="rId10"/>
    <p:sldId id="468" r:id="rId11"/>
    <p:sldId id="470" r:id="rId12"/>
    <p:sldId id="471" r:id="rId13"/>
    <p:sldId id="472" r:id="rId14"/>
    <p:sldId id="473" r:id="rId15"/>
    <p:sldId id="474" r:id="rId16"/>
    <p:sldId id="466" r:id="rId17"/>
    <p:sldId id="461" r:id="rId18"/>
    <p:sldId id="480" r:id="rId19"/>
    <p:sldId id="462" r:id="rId20"/>
    <p:sldId id="477" r:id="rId21"/>
    <p:sldId id="478" r:id="rId22"/>
    <p:sldId id="476" r:id="rId23"/>
    <p:sldId id="475" r:id="rId24"/>
    <p:sldId id="479" r:id="rId25"/>
    <p:sldId id="321" r:id="rId26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AAB4"/>
    <a:srgbClr val="0064A7"/>
    <a:srgbClr val="0064A6"/>
    <a:srgbClr val="7E93A7"/>
    <a:srgbClr val="FFFFFF"/>
    <a:srgbClr val="E2F0D9"/>
    <a:srgbClr val="C5E0B4"/>
    <a:srgbClr val="FF0000"/>
    <a:srgbClr val="7FA5D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3"/>
    <p:restoredTop sz="94643"/>
  </p:normalViewPr>
  <p:slideViewPr>
    <p:cSldViewPr snapToGrid="0">
      <p:cViewPr varScale="1">
        <p:scale>
          <a:sx n="125" d="100"/>
          <a:sy n="125" d="100"/>
        </p:scale>
        <p:origin x="16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42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CFCB54-ED14-4616-BBD6-40E0A0136D62}" type="doc">
      <dgm:prSet loTypeId="urn:microsoft.com/office/officeart/2009/layout/CircleArrowProcess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de-CH"/>
        </a:p>
      </dgm:t>
    </dgm:pt>
    <dgm:pt modelId="{74F890E6-B6CE-4E8F-BAD0-92185ED3D5C9}">
      <dgm:prSet phldrT="[Text]" custT="1"/>
      <dgm:spPr/>
      <dgm:t>
        <a:bodyPr/>
        <a:lstStyle/>
        <a:p>
          <a:r>
            <a:rPr lang="de-CH" sz="1400" noProof="0" dirty="0"/>
            <a:t>Einarbeitung vor Ort</a:t>
          </a:r>
          <a:br>
            <a:rPr lang="de-CH" sz="1400" noProof="0" dirty="0"/>
          </a:br>
          <a:r>
            <a:rPr lang="de-CH" sz="1400" noProof="0" dirty="0"/>
            <a:t>(2. Lektion)</a:t>
          </a:r>
        </a:p>
      </dgm:t>
    </dgm:pt>
    <dgm:pt modelId="{13122395-DBBD-4182-9031-E670D1C4C58E}" type="parTrans" cxnId="{57157756-18DB-4E47-BC21-FC94C7954D1C}">
      <dgm:prSet/>
      <dgm:spPr/>
      <dgm:t>
        <a:bodyPr/>
        <a:lstStyle/>
        <a:p>
          <a:endParaRPr lang="de-CH" sz="2000"/>
        </a:p>
      </dgm:t>
    </dgm:pt>
    <dgm:pt modelId="{C2E6632B-5B45-42EF-8C25-C69457894176}" type="sibTrans" cxnId="{57157756-18DB-4E47-BC21-FC94C7954D1C}">
      <dgm:prSet/>
      <dgm:spPr/>
      <dgm:t>
        <a:bodyPr/>
        <a:lstStyle/>
        <a:p>
          <a:endParaRPr lang="de-CH" sz="2000"/>
        </a:p>
      </dgm:t>
    </dgm:pt>
    <dgm:pt modelId="{AEABAE79-32C2-4CFF-9050-7392A4D26E9A}">
      <dgm:prSet phldrT="[Text]" custT="1"/>
      <dgm:spPr/>
      <dgm:t>
        <a:bodyPr/>
        <a:lstStyle/>
        <a:p>
          <a:r>
            <a:rPr lang="de-CH" sz="1400" noProof="0" dirty="0"/>
            <a:t>Kurzer Input</a:t>
          </a:r>
        </a:p>
      </dgm:t>
    </dgm:pt>
    <dgm:pt modelId="{4FAAB62F-6CB3-4F77-B873-C8EACC9574BD}" type="parTrans" cxnId="{8A1FA8FA-05A6-489E-9740-6F3F48D8075F}">
      <dgm:prSet/>
      <dgm:spPr/>
      <dgm:t>
        <a:bodyPr/>
        <a:lstStyle/>
        <a:p>
          <a:endParaRPr lang="de-CH" sz="2000"/>
        </a:p>
      </dgm:t>
    </dgm:pt>
    <dgm:pt modelId="{3FD755A4-12A8-4284-B6D9-A5084F6425FE}" type="sibTrans" cxnId="{8A1FA8FA-05A6-489E-9740-6F3F48D8075F}">
      <dgm:prSet/>
      <dgm:spPr/>
      <dgm:t>
        <a:bodyPr/>
        <a:lstStyle/>
        <a:p>
          <a:endParaRPr lang="de-CH" sz="2000"/>
        </a:p>
      </dgm:t>
    </dgm:pt>
    <dgm:pt modelId="{7BC7E6F9-A9A7-45D8-ABDA-A91366CE4F85}">
      <dgm:prSet phldrT="[Text]" custT="1"/>
      <dgm:spPr/>
      <dgm:t>
        <a:bodyPr/>
        <a:lstStyle/>
        <a:p>
          <a:r>
            <a:rPr lang="de-CH" sz="1400" noProof="0" dirty="0"/>
            <a:t>Vertiefung im Selbststudium</a:t>
          </a:r>
        </a:p>
      </dgm:t>
    </dgm:pt>
    <dgm:pt modelId="{8B77130B-5EB3-4C21-A6AB-0E17B6515ECE}" type="parTrans" cxnId="{94E5A9B2-4E44-4ED4-A267-0DB600098DE5}">
      <dgm:prSet/>
      <dgm:spPr/>
      <dgm:t>
        <a:bodyPr/>
        <a:lstStyle/>
        <a:p>
          <a:endParaRPr lang="de-CH" sz="2000"/>
        </a:p>
      </dgm:t>
    </dgm:pt>
    <dgm:pt modelId="{AFE51257-2C64-4EFC-BFD0-449D1F4603CE}" type="sibTrans" cxnId="{94E5A9B2-4E44-4ED4-A267-0DB600098DE5}">
      <dgm:prSet/>
      <dgm:spPr/>
      <dgm:t>
        <a:bodyPr/>
        <a:lstStyle/>
        <a:p>
          <a:endParaRPr lang="de-CH" sz="2000"/>
        </a:p>
      </dgm:t>
    </dgm:pt>
    <dgm:pt modelId="{6297AA04-A1A4-4E10-B97D-38E0B31E844F}">
      <dgm:prSet phldrT="[Text]" custT="1"/>
      <dgm:spPr/>
      <dgm:t>
        <a:bodyPr/>
        <a:lstStyle/>
        <a:p>
          <a:r>
            <a:rPr lang="de-CH" sz="1400" noProof="0" dirty="0"/>
            <a:t>Lernvideos / -texte</a:t>
          </a:r>
        </a:p>
      </dgm:t>
    </dgm:pt>
    <dgm:pt modelId="{E55EB66F-AB4E-4B57-85F8-6B541F62FAEC}" type="parTrans" cxnId="{D9B4B193-73C4-4C93-9DAF-D8D09459049B}">
      <dgm:prSet/>
      <dgm:spPr/>
      <dgm:t>
        <a:bodyPr/>
        <a:lstStyle/>
        <a:p>
          <a:endParaRPr lang="de-CH" sz="2000"/>
        </a:p>
      </dgm:t>
    </dgm:pt>
    <dgm:pt modelId="{0EEC079D-AC61-4852-85D2-A3524E06DCDD}" type="sibTrans" cxnId="{D9B4B193-73C4-4C93-9DAF-D8D09459049B}">
      <dgm:prSet/>
      <dgm:spPr/>
      <dgm:t>
        <a:bodyPr/>
        <a:lstStyle/>
        <a:p>
          <a:endParaRPr lang="de-CH" sz="2000"/>
        </a:p>
      </dgm:t>
    </dgm:pt>
    <dgm:pt modelId="{8EF00D03-04AC-4216-A044-3265A5CE2227}">
      <dgm:prSet phldrT="[Text]" custT="1"/>
      <dgm:spPr/>
      <dgm:t>
        <a:bodyPr/>
        <a:lstStyle/>
        <a:p>
          <a:r>
            <a:rPr lang="de-CH" sz="1400" noProof="0" dirty="0"/>
            <a:t>Übungen im Selbststudium</a:t>
          </a:r>
        </a:p>
      </dgm:t>
    </dgm:pt>
    <dgm:pt modelId="{C1184E4F-6FAA-4EE8-A5C7-EFA89E824CA4}" type="parTrans" cxnId="{18AFBF8A-C5BE-4B6C-A9AF-E4AC6A74E213}">
      <dgm:prSet/>
      <dgm:spPr/>
      <dgm:t>
        <a:bodyPr/>
        <a:lstStyle/>
        <a:p>
          <a:endParaRPr lang="de-CH" sz="2000"/>
        </a:p>
      </dgm:t>
    </dgm:pt>
    <dgm:pt modelId="{F0895E77-255B-44D3-B3A3-3979DDD721B5}" type="sibTrans" cxnId="{18AFBF8A-C5BE-4B6C-A9AF-E4AC6A74E213}">
      <dgm:prSet/>
      <dgm:spPr/>
      <dgm:t>
        <a:bodyPr/>
        <a:lstStyle/>
        <a:p>
          <a:endParaRPr lang="de-CH" sz="2000"/>
        </a:p>
      </dgm:t>
    </dgm:pt>
    <dgm:pt modelId="{CD1A197E-EA25-48EB-BA02-73CDF66DC15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CH" sz="1400" noProof="0" dirty="0"/>
            <a:t>Übungsblatt</a:t>
          </a:r>
        </a:p>
      </dgm:t>
    </dgm:pt>
    <dgm:pt modelId="{328FA328-C689-43DC-B374-23D49DF621AA}" type="parTrans" cxnId="{C2B43D3E-C0CF-4172-9C3B-EEE82586DEA7}">
      <dgm:prSet/>
      <dgm:spPr/>
      <dgm:t>
        <a:bodyPr/>
        <a:lstStyle/>
        <a:p>
          <a:endParaRPr lang="de-CH" sz="2000"/>
        </a:p>
      </dgm:t>
    </dgm:pt>
    <dgm:pt modelId="{BBD4341D-4029-4551-9C9F-D3EFBE14F51E}" type="sibTrans" cxnId="{C2B43D3E-C0CF-4172-9C3B-EEE82586DEA7}">
      <dgm:prSet/>
      <dgm:spPr/>
      <dgm:t>
        <a:bodyPr/>
        <a:lstStyle/>
        <a:p>
          <a:endParaRPr lang="de-CH" sz="2000"/>
        </a:p>
      </dgm:t>
    </dgm:pt>
    <dgm:pt modelId="{31DBE0EC-1F15-4D08-8784-C2B5C84ACB71}">
      <dgm:prSet phldrT="[Text]" custT="1"/>
      <dgm:spPr/>
      <dgm:t>
        <a:bodyPr/>
        <a:lstStyle/>
        <a:p>
          <a:r>
            <a:rPr lang="de-CH" sz="1400" noProof="0" dirty="0"/>
            <a:t>Abschluss vor Ort (2. Lektion)</a:t>
          </a:r>
        </a:p>
      </dgm:t>
    </dgm:pt>
    <dgm:pt modelId="{30356618-970E-4BC2-9506-69347DF666C4}" type="parTrans" cxnId="{0D971116-B597-49D9-AA9F-CF78CA8D9508}">
      <dgm:prSet/>
      <dgm:spPr/>
      <dgm:t>
        <a:bodyPr/>
        <a:lstStyle/>
        <a:p>
          <a:endParaRPr lang="de-CH" sz="2000"/>
        </a:p>
      </dgm:t>
    </dgm:pt>
    <dgm:pt modelId="{DBCBB4B4-0BCD-4E77-99A4-C44443F63C5C}" type="sibTrans" cxnId="{0D971116-B597-49D9-AA9F-CF78CA8D9508}">
      <dgm:prSet/>
      <dgm:spPr/>
      <dgm:t>
        <a:bodyPr/>
        <a:lstStyle/>
        <a:p>
          <a:endParaRPr lang="de-CH" sz="2000"/>
        </a:p>
      </dgm:t>
    </dgm:pt>
    <dgm:pt modelId="{95A02B1F-31EE-406F-8C53-68900251E401}">
      <dgm:prSet phldrT="[Text]" custT="1"/>
      <dgm:spPr/>
      <dgm:t>
        <a:bodyPr/>
        <a:lstStyle/>
        <a:p>
          <a:r>
            <a:rPr lang="de-CH" sz="1400" noProof="0" dirty="0"/>
            <a:t>Diskussion der Vertiefung &amp; Übungen</a:t>
          </a:r>
        </a:p>
      </dgm:t>
    </dgm:pt>
    <dgm:pt modelId="{D241EC14-E20D-4655-83D1-821955AD4503}" type="parTrans" cxnId="{8136DE62-0F48-418B-9D9C-1E498530A278}">
      <dgm:prSet/>
      <dgm:spPr/>
      <dgm:t>
        <a:bodyPr/>
        <a:lstStyle/>
        <a:p>
          <a:endParaRPr lang="de-CH" sz="2000"/>
        </a:p>
      </dgm:t>
    </dgm:pt>
    <dgm:pt modelId="{5EECBF60-B1CA-46D1-B881-FBFC7F750C18}" type="sibTrans" cxnId="{8136DE62-0F48-418B-9D9C-1E498530A278}">
      <dgm:prSet/>
      <dgm:spPr/>
      <dgm:t>
        <a:bodyPr/>
        <a:lstStyle/>
        <a:p>
          <a:endParaRPr lang="de-CH" sz="2000"/>
        </a:p>
      </dgm:t>
    </dgm:pt>
    <dgm:pt modelId="{E070C633-3207-41CF-ACE5-54D91E4F09E9}">
      <dgm:prSet phldrT="[Text]" custT="1"/>
      <dgm:spPr/>
      <dgm:t>
        <a:bodyPr/>
        <a:lstStyle/>
        <a:p>
          <a:r>
            <a:rPr lang="de-CH" sz="1400" noProof="0" dirty="0"/>
            <a:t>Selbst rudimentär implementieren</a:t>
          </a:r>
        </a:p>
      </dgm:t>
    </dgm:pt>
    <dgm:pt modelId="{7015830A-A846-4E7E-B3B6-6D2E07B4813C}" type="parTrans" cxnId="{4096F664-76CE-44F7-9223-77B77472FE41}">
      <dgm:prSet/>
      <dgm:spPr/>
      <dgm:t>
        <a:bodyPr/>
        <a:lstStyle/>
        <a:p>
          <a:endParaRPr lang="de-CH" sz="2000"/>
        </a:p>
      </dgm:t>
    </dgm:pt>
    <dgm:pt modelId="{691BA9AB-2F20-4A0F-8290-80FD1FBF1F53}" type="sibTrans" cxnId="{4096F664-76CE-44F7-9223-77B77472FE41}">
      <dgm:prSet/>
      <dgm:spPr/>
      <dgm:t>
        <a:bodyPr/>
        <a:lstStyle/>
        <a:p>
          <a:endParaRPr lang="de-CH" sz="2000"/>
        </a:p>
      </dgm:t>
    </dgm:pt>
    <dgm:pt modelId="{B1405BF2-A2AF-42FE-A07C-A8837982ED35}">
      <dgm:prSet phldrT="[Text]" custT="1"/>
      <dgm:spPr/>
      <dgm:t>
        <a:bodyPr/>
        <a:lstStyle/>
        <a:p>
          <a:r>
            <a:rPr lang="de-CH" sz="1400" noProof="0" dirty="0"/>
            <a:t>Beispiele bearbeiten</a:t>
          </a:r>
        </a:p>
      </dgm:t>
    </dgm:pt>
    <dgm:pt modelId="{2B8584A3-592D-45F5-B903-CC4F4FD6BA9A}" type="parTrans" cxnId="{E740ABF2-B399-4CC2-A164-2ED41E6861D1}">
      <dgm:prSet/>
      <dgm:spPr/>
      <dgm:t>
        <a:bodyPr/>
        <a:lstStyle/>
        <a:p>
          <a:endParaRPr lang="de-CH" sz="2000"/>
        </a:p>
      </dgm:t>
    </dgm:pt>
    <dgm:pt modelId="{12324D71-4D0A-4772-9050-39DD561C61CD}" type="sibTrans" cxnId="{E740ABF2-B399-4CC2-A164-2ED41E6861D1}">
      <dgm:prSet/>
      <dgm:spPr/>
      <dgm:t>
        <a:bodyPr/>
        <a:lstStyle/>
        <a:p>
          <a:endParaRPr lang="de-CH" sz="2000"/>
        </a:p>
      </dgm:t>
    </dgm:pt>
    <dgm:pt modelId="{1DE6E16F-28D2-A748-8E55-B3CAC282B341}">
      <dgm:prSet phldrT="[Text]" custT="1"/>
      <dgm:spPr/>
      <dgm:t>
        <a:bodyPr/>
        <a:lstStyle/>
        <a:p>
          <a:r>
            <a:rPr lang="de-CH" sz="1400" noProof="0" dirty="0"/>
            <a:t>Fragen klären</a:t>
          </a:r>
        </a:p>
      </dgm:t>
    </dgm:pt>
    <dgm:pt modelId="{5E95346A-FC69-F045-949F-8001FCED7AE9}" type="parTrans" cxnId="{90F0DE8E-35FB-7244-8191-D81CB6975FD2}">
      <dgm:prSet/>
      <dgm:spPr/>
      <dgm:t>
        <a:bodyPr/>
        <a:lstStyle/>
        <a:p>
          <a:endParaRPr lang="de-DE"/>
        </a:p>
      </dgm:t>
    </dgm:pt>
    <dgm:pt modelId="{2118AECB-56D8-1248-9AFE-F4AB262A1A25}" type="sibTrans" cxnId="{90F0DE8E-35FB-7244-8191-D81CB6975FD2}">
      <dgm:prSet/>
      <dgm:spPr/>
      <dgm:t>
        <a:bodyPr/>
        <a:lstStyle/>
        <a:p>
          <a:endParaRPr lang="de-DE"/>
        </a:p>
      </dgm:t>
    </dgm:pt>
    <dgm:pt modelId="{3D0DDCF7-5FF2-584B-82F5-0D23BB180BC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e-CH" sz="1400" noProof="0" dirty="0"/>
            <a:t>Diskussionsforum</a:t>
          </a:r>
        </a:p>
      </dgm:t>
    </dgm:pt>
    <dgm:pt modelId="{22CDDA11-5E79-904A-9993-D7ECBF2D0731}" type="parTrans" cxnId="{1D3E6075-DBCC-5645-B787-22F51ED6A265}">
      <dgm:prSet/>
      <dgm:spPr/>
      <dgm:t>
        <a:bodyPr/>
        <a:lstStyle/>
        <a:p>
          <a:endParaRPr lang="de-DE"/>
        </a:p>
      </dgm:t>
    </dgm:pt>
    <dgm:pt modelId="{B6E0254F-E403-4E40-B15C-848D2D01DF75}" type="sibTrans" cxnId="{1D3E6075-DBCC-5645-B787-22F51ED6A265}">
      <dgm:prSet/>
      <dgm:spPr/>
      <dgm:t>
        <a:bodyPr/>
        <a:lstStyle/>
        <a:p>
          <a:endParaRPr lang="de-DE"/>
        </a:p>
      </dgm:t>
    </dgm:pt>
    <dgm:pt modelId="{4C4B7430-A799-40ED-AAF4-3A491A907D2A}" type="pres">
      <dgm:prSet presAssocID="{05CFCB54-ED14-4616-BBD6-40E0A0136D62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329F029C-7B9C-4E50-AC12-9E061212FEAE}" type="pres">
      <dgm:prSet presAssocID="{74F890E6-B6CE-4E8F-BAD0-92185ED3D5C9}" presName="Accent1" presStyleCnt="0"/>
      <dgm:spPr/>
    </dgm:pt>
    <dgm:pt modelId="{78460541-8F1D-40F2-B932-CFC98A66B087}" type="pres">
      <dgm:prSet presAssocID="{74F890E6-B6CE-4E8F-BAD0-92185ED3D5C9}" presName="Accent" presStyleLbl="node1" presStyleIdx="0" presStyleCnt="4"/>
      <dgm:spPr/>
    </dgm:pt>
    <dgm:pt modelId="{A69ACF2C-4DC0-401D-81DC-C6C00890019E}" type="pres">
      <dgm:prSet presAssocID="{74F890E6-B6CE-4E8F-BAD0-92185ED3D5C9}" presName="Child1" presStyleLbl="revTx" presStyleIdx="0" presStyleCnt="8" custScaleX="109565" custLinFactNeighborX="5806">
        <dgm:presLayoutVars>
          <dgm:chMax val="0"/>
          <dgm:chPref val="0"/>
          <dgm:bulletEnabled val="1"/>
        </dgm:presLayoutVars>
      </dgm:prSet>
      <dgm:spPr/>
    </dgm:pt>
    <dgm:pt modelId="{A7FFC5AE-9D38-4FB9-9522-0E1948C9FB81}" type="pres">
      <dgm:prSet presAssocID="{74F890E6-B6CE-4E8F-BAD0-92185ED3D5C9}" presName="Parent1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CE4C77B1-DC44-474A-B708-B7B3A7AF6C7E}" type="pres">
      <dgm:prSet presAssocID="{7BC7E6F9-A9A7-45D8-ABDA-A91366CE4F85}" presName="Accent2" presStyleCnt="0"/>
      <dgm:spPr/>
    </dgm:pt>
    <dgm:pt modelId="{32D0BBDB-CC52-4DCE-B45A-0069B65F51AA}" type="pres">
      <dgm:prSet presAssocID="{7BC7E6F9-A9A7-45D8-ABDA-A91366CE4F85}" presName="Accent" presStyleLbl="node1" presStyleIdx="1" presStyleCnt="4"/>
      <dgm:spPr/>
    </dgm:pt>
    <dgm:pt modelId="{CB2EA870-5B07-406C-9B35-46A28A6980B4}" type="pres">
      <dgm:prSet presAssocID="{7BC7E6F9-A9A7-45D8-ABDA-A91366CE4F85}" presName="Child2" presStyleLbl="revTx" presStyleIdx="2" presStyleCnt="8" custScaleX="129946" custLinFactNeighborX="5806">
        <dgm:presLayoutVars>
          <dgm:chMax val="0"/>
          <dgm:chPref val="0"/>
          <dgm:bulletEnabled val="1"/>
        </dgm:presLayoutVars>
      </dgm:prSet>
      <dgm:spPr/>
    </dgm:pt>
    <dgm:pt modelId="{A0F4BA11-F76E-4623-8BBD-412B40250188}" type="pres">
      <dgm:prSet presAssocID="{7BC7E6F9-A9A7-45D8-ABDA-A91366CE4F85}" presName="Parent2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4612CB7F-A894-457A-A49E-9B3A320D7FF3}" type="pres">
      <dgm:prSet presAssocID="{8EF00D03-04AC-4216-A044-3265A5CE2227}" presName="Accent3" presStyleCnt="0"/>
      <dgm:spPr/>
    </dgm:pt>
    <dgm:pt modelId="{68EDA370-9C72-4E2F-A4F6-5BF336E009D1}" type="pres">
      <dgm:prSet presAssocID="{8EF00D03-04AC-4216-A044-3265A5CE2227}" presName="Accent" presStyleLbl="node1" presStyleIdx="2" presStyleCnt="4" custLinFactNeighborX="-334"/>
      <dgm:spPr/>
    </dgm:pt>
    <dgm:pt modelId="{AA028B1F-CB70-41B5-A801-6597AA3BEAAF}" type="pres">
      <dgm:prSet presAssocID="{8EF00D03-04AC-4216-A044-3265A5CE2227}" presName="Child3" presStyleLbl="revTx" presStyleIdx="4" presStyleCnt="8" custScaleX="114195" custLinFactNeighborX="5806">
        <dgm:presLayoutVars>
          <dgm:chMax val="0"/>
          <dgm:chPref val="0"/>
          <dgm:bulletEnabled val="1"/>
        </dgm:presLayoutVars>
      </dgm:prSet>
      <dgm:spPr/>
    </dgm:pt>
    <dgm:pt modelId="{34F321BC-3901-40E6-8FDD-F586CFFDDC3A}" type="pres">
      <dgm:prSet presAssocID="{8EF00D03-04AC-4216-A044-3265A5CE2227}" presName="Parent3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D9ED08E3-D4BB-4BEB-AF47-06BD9017D67E}" type="pres">
      <dgm:prSet presAssocID="{31DBE0EC-1F15-4D08-8784-C2B5C84ACB71}" presName="Accent4" presStyleCnt="0"/>
      <dgm:spPr/>
    </dgm:pt>
    <dgm:pt modelId="{36479F7A-A868-4E24-A677-7EA1CBD86684}" type="pres">
      <dgm:prSet presAssocID="{31DBE0EC-1F15-4D08-8784-C2B5C84ACB71}" presName="Accent" presStyleLbl="node1" presStyleIdx="3" presStyleCnt="4"/>
      <dgm:spPr/>
    </dgm:pt>
    <dgm:pt modelId="{FCE97ABA-5AB0-4664-B1DC-F297F6022C4D}" type="pres">
      <dgm:prSet presAssocID="{31DBE0EC-1F15-4D08-8784-C2B5C84ACB71}" presName="Child4" presStyleLbl="revTx" presStyleIdx="6" presStyleCnt="8" custScaleX="143149" custLinFactNeighborX="23874">
        <dgm:presLayoutVars>
          <dgm:chMax val="0"/>
          <dgm:chPref val="0"/>
          <dgm:bulletEnabled val="1"/>
        </dgm:presLayoutVars>
      </dgm:prSet>
      <dgm:spPr/>
    </dgm:pt>
    <dgm:pt modelId="{FD3D0246-7EF7-4BA7-8B8B-77FB80D5EE0E}" type="pres">
      <dgm:prSet presAssocID="{31DBE0EC-1F15-4D08-8784-C2B5C84ACB71}" presName="Parent4" presStyleLbl="revTx" presStyleIdx="7" presStyleCnt="8">
        <dgm:presLayoutVars>
          <dgm:chMax val="1"/>
          <dgm:chPref val="1"/>
          <dgm:bulletEnabled val="1"/>
        </dgm:presLayoutVars>
      </dgm:prSet>
      <dgm:spPr/>
    </dgm:pt>
  </dgm:ptLst>
  <dgm:cxnLst>
    <dgm:cxn modelId="{89ABE60E-05D3-4853-AF96-3A1464D7F5CE}" type="presOf" srcId="{95A02B1F-31EE-406F-8C53-68900251E401}" destId="{FCE97ABA-5AB0-4664-B1DC-F297F6022C4D}" srcOrd="0" destOrd="0" presId="urn:microsoft.com/office/officeart/2009/layout/CircleArrowProcess"/>
    <dgm:cxn modelId="{5231F015-EBE2-472A-96CC-9C3E65073274}" type="presOf" srcId="{31DBE0EC-1F15-4D08-8784-C2B5C84ACB71}" destId="{FD3D0246-7EF7-4BA7-8B8B-77FB80D5EE0E}" srcOrd="0" destOrd="0" presId="urn:microsoft.com/office/officeart/2009/layout/CircleArrowProcess"/>
    <dgm:cxn modelId="{0D971116-B597-49D9-AA9F-CF78CA8D9508}" srcId="{05CFCB54-ED14-4616-BBD6-40E0A0136D62}" destId="{31DBE0EC-1F15-4D08-8784-C2B5C84ACB71}" srcOrd="3" destOrd="0" parTransId="{30356618-970E-4BC2-9506-69347DF666C4}" sibTransId="{DBCBB4B4-0BCD-4E77-99A4-C44443F63C5C}"/>
    <dgm:cxn modelId="{D5AB792D-0224-4473-8FBF-67AF480C4E8A}" type="presOf" srcId="{B1405BF2-A2AF-42FE-A07C-A8837982ED35}" destId="{CB2EA870-5B07-406C-9B35-46A28A6980B4}" srcOrd="0" destOrd="1" presId="urn:microsoft.com/office/officeart/2009/layout/CircleArrowProcess"/>
    <dgm:cxn modelId="{C2B43D3E-C0CF-4172-9C3B-EEE82586DEA7}" srcId="{8EF00D03-04AC-4216-A044-3265A5CE2227}" destId="{CD1A197E-EA25-48EB-BA02-73CDF66DC15B}" srcOrd="0" destOrd="0" parTransId="{328FA328-C689-43DC-B374-23D49DF621AA}" sibTransId="{BBD4341D-4029-4551-9C9F-D3EFBE14F51E}"/>
    <dgm:cxn modelId="{F6371146-0CB3-4569-95A9-092DF71097B4}" type="presOf" srcId="{74F890E6-B6CE-4E8F-BAD0-92185ED3D5C9}" destId="{A7FFC5AE-9D38-4FB9-9522-0E1948C9FB81}" srcOrd="0" destOrd="0" presId="urn:microsoft.com/office/officeart/2009/layout/CircleArrowProcess"/>
    <dgm:cxn modelId="{F427664B-294F-476D-8389-17D3F03DBEDB}" type="presOf" srcId="{7BC7E6F9-A9A7-45D8-ABDA-A91366CE4F85}" destId="{A0F4BA11-F76E-4623-8BBD-412B40250188}" srcOrd="0" destOrd="0" presId="urn:microsoft.com/office/officeart/2009/layout/CircleArrowProcess"/>
    <dgm:cxn modelId="{57157756-18DB-4E47-BC21-FC94C7954D1C}" srcId="{05CFCB54-ED14-4616-BBD6-40E0A0136D62}" destId="{74F890E6-B6CE-4E8F-BAD0-92185ED3D5C9}" srcOrd="0" destOrd="0" parTransId="{13122395-DBBD-4182-9031-E670D1C4C58E}" sibTransId="{C2E6632B-5B45-42EF-8C25-C69457894176}"/>
    <dgm:cxn modelId="{8136DE62-0F48-418B-9D9C-1E498530A278}" srcId="{31DBE0EC-1F15-4D08-8784-C2B5C84ACB71}" destId="{95A02B1F-31EE-406F-8C53-68900251E401}" srcOrd="0" destOrd="0" parTransId="{D241EC14-E20D-4655-83D1-821955AD4503}" sibTransId="{5EECBF60-B1CA-46D1-B881-FBFC7F750C18}"/>
    <dgm:cxn modelId="{4096F664-76CE-44F7-9223-77B77472FE41}" srcId="{74F890E6-B6CE-4E8F-BAD0-92185ED3D5C9}" destId="{E070C633-3207-41CF-ACE5-54D91E4F09E9}" srcOrd="1" destOrd="0" parTransId="{7015830A-A846-4E7E-B3B6-6D2E07B4813C}" sibTransId="{691BA9AB-2F20-4A0F-8290-80FD1FBF1F53}"/>
    <dgm:cxn modelId="{1D3E6075-DBCC-5645-B787-22F51ED6A265}" srcId="{8EF00D03-04AC-4216-A044-3265A5CE2227}" destId="{3D0DDCF7-5FF2-584B-82F5-0D23BB180BCC}" srcOrd="1" destOrd="0" parTransId="{22CDDA11-5E79-904A-9993-D7ECBF2D0731}" sibTransId="{B6E0254F-E403-4E40-B15C-848D2D01DF75}"/>
    <dgm:cxn modelId="{280EB97A-3A21-4BC5-BFE0-EC59AC2C9555}" type="presOf" srcId="{6297AA04-A1A4-4E10-B97D-38E0B31E844F}" destId="{CB2EA870-5B07-406C-9B35-46A28A6980B4}" srcOrd="0" destOrd="0" presId="urn:microsoft.com/office/officeart/2009/layout/CircleArrowProcess"/>
    <dgm:cxn modelId="{18AFBF8A-C5BE-4B6C-A9AF-E4AC6A74E213}" srcId="{05CFCB54-ED14-4616-BBD6-40E0A0136D62}" destId="{8EF00D03-04AC-4216-A044-3265A5CE2227}" srcOrd="2" destOrd="0" parTransId="{C1184E4F-6FAA-4EE8-A5C7-EFA89E824CA4}" sibTransId="{F0895E77-255B-44D3-B3A3-3979DDD721B5}"/>
    <dgm:cxn modelId="{90F0DE8E-35FB-7244-8191-D81CB6975FD2}" srcId="{31DBE0EC-1F15-4D08-8784-C2B5C84ACB71}" destId="{1DE6E16F-28D2-A748-8E55-B3CAC282B341}" srcOrd="1" destOrd="0" parTransId="{5E95346A-FC69-F045-949F-8001FCED7AE9}" sibTransId="{2118AECB-56D8-1248-9AFE-F4AB262A1A25}"/>
    <dgm:cxn modelId="{D9B4B193-73C4-4C93-9DAF-D8D09459049B}" srcId="{7BC7E6F9-A9A7-45D8-ABDA-A91366CE4F85}" destId="{6297AA04-A1A4-4E10-B97D-38E0B31E844F}" srcOrd="0" destOrd="0" parTransId="{E55EB66F-AB4E-4B57-85F8-6B541F62FAEC}" sibTransId="{0EEC079D-AC61-4852-85D2-A3524E06DCDD}"/>
    <dgm:cxn modelId="{96ABA79A-27C7-3C4B-9E27-8846285D055F}" type="presOf" srcId="{1DE6E16F-28D2-A748-8E55-B3CAC282B341}" destId="{FCE97ABA-5AB0-4664-B1DC-F297F6022C4D}" srcOrd="0" destOrd="1" presId="urn:microsoft.com/office/officeart/2009/layout/CircleArrowProcess"/>
    <dgm:cxn modelId="{959306A7-52C0-4DFC-AA39-2747B9BAB8EB}" type="presOf" srcId="{AEABAE79-32C2-4CFF-9050-7392A4D26E9A}" destId="{A69ACF2C-4DC0-401D-81DC-C6C00890019E}" srcOrd="0" destOrd="0" presId="urn:microsoft.com/office/officeart/2009/layout/CircleArrowProcess"/>
    <dgm:cxn modelId="{44AA91B2-3226-415F-9590-FEF5F7740FEC}" type="presOf" srcId="{E070C633-3207-41CF-ACE5-54D91E4F09E9}" destId="{A69ACF2C-4DC0-401D-81DC-C6C00890019E}" srcOrd="0" destOrd="1" presId="urn:microsoft.com/office/officeart/2009/layout/CircleArrowProcess"/>
    <dgm:cxn modelId="{94E5A9B2-4E44-4ED4-A267-0DB600098DE5}" srcId="{05CFCB54-ED14-4616-BBD6-40E0A0136D62}" destId="{7BC7E6F9-A9A7-45D8-ABDA-A91366CE4F85}" srcOrd="1" destOrd="0" parTransId="{8B77130B-5EB3-4C21-A6AB-0E17B6515ECE}" sibTransId="{AFE51257-2C64-4EFC-BFD0-449D1F4603CE}"/>
    <dgm:cxn modelId="{350F21CD-5DB5-47AA-97AA-04B9E978E05C}" type="presOf" srcId="{CD1A197E-EA25-48EB-BA02-73CDF66DC15B}" destId="{AA028B1F-CB70-41B5-A801-6597AA3BEAAF}" srcOrd="0" destOrd="0" presId="urn:microsoft.com/office/officeart/2009/layout/CircleArrowProcess"/>
    <dgm:cxn modelId="{EE9493D0-CE5E-47E4-A0E2-721C0A24E692}" type="presOf" srcId="{05CFCB54-ED14-4616-BBD6-40E0A0136D62}" destId="{4C4B7430-A799-40ED-AAF4-3A491A907D2A}" srcOrd="0" destOrd="0" presId="urn:microsoft.com/office/officeart/2009/layout/CircleArrowProcess"/>
    <dgm:cxn modelId="{171C3BE2-12EF-4AAE-A1B5-FBC0F6C87C08}" type="presOf" srcId="{8EF00D03-04AC-4216-A044-3265A5CE2227}" destId="{34F321BC-3901-40E6-8FDD-F586CFFDDC3A}" srcOrd="0" destOrd="0" presId="urn:microsoft.com/office/officeart/2009/layout/CircleArrowProcess"/>
    <dgm:cxn modelId="{88AFD1E6-0976-2C43-B2A8-47B07F81D9A1}" type="presOf" srcId="{3D0DDCF7-5FF2-584B-82F5-0D23BB180BCC}" destId="{AA028B1F-CB70-41B5-A801-6597AA3BEAAF}" srcOrd="0" destOrd="1" presId="urn:microsoft.com/office/officeart/2009/layout/CircleArrowProcess"/>
    <dgm:cxn modelId="{E740ABF2-B399-4CC2-A164-2ED41E6861D1}" srcId="{7BC7E6F9-A9A7-45D8-ABDA-A91366CE4F85}" destId="{B1405BF2-A2AF-42FE-A07C-A8837982ED35}" srcOrd="1" destOrd="0" parTransId="{2B8584A3-592D-45F5-B903-CC4F4FD6BA9A}" sibTransId="{12324D71-4D0A-4772-9050-39DD561C61CD}"/>
    <dgm:cxn modelId="{8A1FA8FA-05A6-489E-9740-6F3F48D8075F}" srcId="{74F890E6-B6CE-4E8F-BAD0-92185ED3D5C9}" destId="{AEABAE79-32C2-4CFF-9050-7392A4D26E9A}" srcOrd="0" destOrd="0" parTransId="{4FAAB62F-6CB3-4F77-B873-C8EACC9574BD}" sibTransId="{3FD755A4-12A8-4284-B6D9-A5084F6425FE}"/>
    <dgm:cxn modelId="{471A2640-8A29-4B18-8088-69E3354A43B4}" type="presParOf" srcId="{4C4B7430-A799-40ED-AAF4-3A491A907D2A}" destId="{329F029C-7B9C-4E50-AC12-9E061212FEAE}" srcOrd="0" destOrd="0" presId="urn:microsoft.com/office/officeart/2009/layout/CircleArrowProcess"/>
    <dgm:cxn modelId="{CA98363C-C3B3-4569-A530-F9918817E8CD}" type="presParOf" srcId="{329F029C-7B9C-4E50-AC12-9E061212FEAE}" destId="{78460541-8F1D-40F2-B932-CFC98A66B087}" srcOrd="0" destOrd="0" presId="urn:microsoft.com/office/officeart/2009/layout/CircleArrowProcess"/>
    <dgm:cxn modelId="{0E73963E-60AB-4A25-AF1D-CF6A4CAD9DC9}" type="presParOf" srcId="{4C4B7430-A799-40ED-AAF4-3A491A907D2A}" destId="{A69ACF2C-4DC0-401D-81DC-C6C00890019E}" srcOrd="1" destOrd="0" presId="urn:microsoft.com/office/officeart/2009/layout/CircleArrowProcess"/>
    <dgm:cxn modelId="{9078FAFA-0849-490F-8F28-57D54B038FC2}" type="presParOf" srcId="{4C4B7430-A799-40ED-AAF4-3A491A907D2A}" destId="{A7FFC5AE-9D38-4FB9-9522-0E1948C9FB81}" srcOrd="2" destOrd="0" presId="urn:microsoft.com/office/officeart/2009/layout/CircleArrowProcess"/>
    <dgm:cxn modelId="{91FF07A5-5B96-447C-880E-4E5DC19725A1}" type="presParOf" srcId="{4C4B7430-A799-40ED-AAF4-3A491A907D2A}" destId="{CE4C77B1-DC44-474A-B708-B7B3A7AF6C7E}" srcOrd="3" destOrd="0" presId="urn:microsoft.com/office/officeart/2009/layout/CircleArrowProcess"/>
    <dgm:cxn modelId="{F112CAE8-7B4A-4F1E-955F-B0B16F32E85E}" type="presParOf" srcId="{CE4C77B1-DC44-474A-B708-B7B3A7AF6C7E}" destId="{32D0BBDB-CC52-4DCE-B45A-0069B65F51AA}" srcOrd="0" destOrd="0" presId="urn:microsoft.com/office/officeart/2009/layout/CircleArrowProcess"/>
    <dgm:cxn modelId="{53C5949B-BE5C-4CC7-864B-59FF0E290DA0}" type="presParOf" srcId="{4C4B7430-A799-40ED-AAF4-3A491A907D2A}" destId="{CB2EA870-5B07-406C-9B35-46A28A6980B4}" srcOrd="4" destOrd="0" presId="urn:microsoft.com/office/officeart/2009/layout/CircleArrowProcess"/>
    <dgm:cxn modelId="{56113657-0D43-476C-BDB4-5F3E25C1BEFD}" type="presParOf" srcId="{4C4B7430-A799-40ED-AAF4-3A491A907D2A}" destId="{A0F4BA11-F76E-4623-8BBD-412B40250188}" srcOrd="5" destOrd="0" presId="urn:microsoft.com/office/officeart/2009/layout/CircleArrowProcess"/>
    <dgm:cxn modelId="{22BF65A5-39D5-459C-A040-AF0E449D5874}" type="presParOf" srcId="{4C4B7430-A799-40ED-AAF4-3A491A907D2A}" destId="{4612CB7F-A894-457A-A49E-9B3A320D7FF3}" srcOrd="6" destOrd="0" presId="urn:microsoft.com/office/officeart/2009/layout/CircleArrowProcess"/>
    <dgm:cxn modelId="{19687CDF-25D1-4DF1-9706-8381E9F8C231}" type="presParOf" srcId="{4612CB7F-A894-457A-A49E-9B3A320D7FF3}" destId="{68EDA370-9C72-4E2F-A4F6-5BF336E009D1}" srcOrd="0" destOrd="0" presId="urn:microsoft.com/office/officeart/2009/layout/CircleArrowProcess"/>
    <dgm:cxn modelId="{BFE9ADB7-6797-47DD-8AB0-67C5A64B27D8}" type="presParOf" srcId="{4C4B7430-A799-40ED-AAF4-3A491A907D2A}" destId="{AA028B1F-CB70-41B5-A801-6597AA3BEAAF}" srcOrd="7" destOrd="0" presId="urn:microsoft.com/office/officeart/2009/layout/CircleArrowProcess"/>
    <dgm:cxn modelId="{6FA244E6-FD9E-4E64-896B-5A1ADF1ED9FB}" type="presParOf" srcId="{4C4B7430-A799-40ED-AAF4-3A491A907D2A}" destId="{34F321BC-3901-40E6-8FDD-F586CFFDDC3A}" srcOrd="8" destOrd="0" presId="urn:microsoft.com/office/officeart/2009/layout/CircleArrowProcess"/>
    <dgm:cxn modelId="{3F7B170D-59F3-4FA0-914F-2E5962D91DC3}" type="presParOf" srcId="{4C4B7430-A799-40ED-AAF4-3A491A907D2A}" destId="{D9ED08E3-D4BB-4BEB-AF47-06BD9017D67E}" srcOrd="9" destOrd="0" presId="urn:microsoft.com/office/officeart/2009/layout/CircleArrowProcess"/>
    <dgm:cxn modelId="{241A87A6-1F02-4791-AEFA-B267BF1053B0}" type="presParOf" srcId="{D9ED08E3-D4BB-4BEB-AF47-06BD9017D67E}" destId="{36479F7A-A868-4E24-A677-7EA1CBD86684}" srcOrd="0" destOrd="0" presId="urn:microsoft.com/office/officeart/2009/layout/CircleArrowProcess"/>
    <dgm:cxn modelId="{20E63097-F3B9-42CD-B52B-28969A1B2362}" type="presParOf" srcId="{4C4B7430-A799-40ED-AAF4-3A491A907D2A}" destId="{FCE97ABA-5AB0-4664-B1DC-F297F6022C4D}" srcOrd="10" destOrd="0" presId="urn:microsoft.com/office/officeart/2009/layout/CircleArrowProcess"/>
    <dgm:cxn modelId="{8866E144-031E-436A-9D8D-32E6449F0091}" type="presParOf" srcId="{4C4B7430-A799-40ED-AAF4-3A491A907D2A}" destId="{FD3D0246-7EF7-4BA7-8B8B-77FB80D5EE0E}" srcOrd="11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60541-8F1D-40F2-B932-CFC98A66B087}">
      <dsp:nvSpPr>
        <dsp:cNvPr id="0" name=""/>
        <dsp:cNvSpPr/>
      </dsp:nvSpPr>
      <dsp:spPr>
        <a:xfrm>
          <a:off x="1123714" y="0"/>
          <a:ext cx="2342612" cy="234285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69ACF2C-4DC0-401D-81DC-C6C00890019E}">
      <dsp:nvSpPr>
        <dsp:cNvPr id="0" name=""/>
        <dsp:cNvSpPr/>
      </dsp:nvSpPr>
      <dsp:spPr>
        <a:xfrm>
          <a:off x="3477185" y="695213"/>
          <a:ext cx="1538758" cy="931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400" kern="1200" noProof="0" dirty="0"/>
            <a:t>Kurzer Input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400" kern="1200" noProof="0" dirty="0"/>
            <a:t>Selbst rudimentär implementieren</a:t>
          </a:r>
        </a:p>
      </dsp:txBody>
      <dsp:txXfrm>
        <a:off x="3477185" y="695213"/>
        <a:ext cx="1538758" cy="931921"/>
      </dsp:txXfrm>
    </dsp:sp>
    <dsp:sp modelId="{A7FFC5AE-9D38-4FB9-9522-0E1948C9FB81}">
      <dsp:nvSpPr>
        <dsp:cNvPr id="0" name=""/>
        <dsp:cNvSpPr/>
      </dsp:nvSpPr>
      <dsp:spPr>
        <a:xfrm>
          <a:off x="1640925" y="848048"/>
          <a:ext cx="1307310" cy="653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 noProof="0" dirty="0"/>
            <a:t>Einarbeitung vor Ort</a:t>
          </a:r>
          <a:br>
            <a:rPr lang="de-CH" sz="1400" kern="1200" noProof="0" dirty="0"/>
          </a:br>
          <a:r>
            <a:rPr lang="de-CH" sz="1400" kern="1200" noProof="0" dirty="0"/>
            <a:t>(2. Lektion)</a:t>
          </a:r>
        </a:p>
      </dsp:txBody>
      <dsp:txXfrm>
        <a:off x="1640925" y="848048"/>
        <a:ext cx="1307310" cy="653587"/>
      </dsp:txXfrm>
    </dsp:sp>
    <dsp:sp modelId="{32D0BBDB-CC52-4DCE-B45A-0069B65F51AA}">
      <dsp:nvSpPr>
        <dsp:cNvPr id="0" name=""/>
        <dsp:cNvSpPr/>
      </dsp:nvSpPr>
      <dsp:spPr>
        <a:xfrm>
          <a:off x="472915" y="1346316"/>
          <a:ext cx="2342612" cy="234285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2">
                <a:hueOff val="4140847"/>
                <a:satOff val="8716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140847"/>
                <a:satOff val="8716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140847"/>
                <a:satOff val="8716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B2EA870-5B07-406C-9B35-46A28A6980B4}">
      <dsp:nvSpPr>
        <dsp:cNvPr id="0" name=""/>
        <dsp:cNvSpPr/>
      </dsp:nvSpPr>
      <dsp:spPr>
        <a:xfrm>
          <a:off x="2694254" y="2057683"/>
          <a:ext cx="1824994" cy="931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400" kern="1200" noProof="0" dirty="0"/>
            <a:t>Lernvideos / -texte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400" kern="1200" noProof="0" dirty="0"/>
            <a:t>Beispiele bearbeiten</a:t>
          </a:r>
        </a:p>
      </dsp:txBody>
      <dsp:txXfrm>
        <a:off x="2694254" y="2057683"/>
        <a:ext cx="1824994" cy="931921"/>
      </dsp:txXfrm>
    </dsp:sp>
    <dsp:sp modelId="{A0F4BA11-F76E-4623-8BBD-412B40250188}">
      <dsp:nvSpPr>
        <dsp:cNvPr id="0" name=""/>
        <dsp:cNvSpPr/>
      </dsp:nvSpPr>
      <dsp:spPr>
        <a:xfrm>
          <a:off x="987490" y="2196849"/>
          <a:ext cx="1307310" cy="653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 noProof="0" dirty="0"/>
            <a:t>Vertiefung im Selbststudium</a:t>
          </a:r>
        </a:p>
      </dsp:txBody>
      <dsp:txXfrm>
        <a:off x="987490" y="2196849"/>
        <a:ext cx="1307310" cy="653587"/>
      </dsp:txXfrm>
    </dsp:sp>
    <dsp:sp modelId="{68EDA370-9C72-4E2F-A4F6-5BF336E009D1}">
      <dsp:nvSpPr>
        <dsp:cNvPr id="0" name=""/>
        <dsp:cNvSpPr/>
      </dsp:nvSpPr>
      <dsp:spPr>
        <a:xfrm>
          <a:off x="1115890" y="2697602"/>
          <a:ext cx="2342612" cy="2342851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gradFill rotWithShape="0">
          <a:gsLst>
            <a:gs pos="0">
              <a:schemeClr val="accent2">
                <a:hueOff val="8281694"/>
                <a:satOff val="17431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281694"/>
                <a:satOff val="17431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281694"/>
                <a:satOff val="17431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028B1F-CB70-41B5-A801-6597AA3BEAAF}">
      <dsp:nvSpPr>
        <dsp:cNvPr id="0" name=""/>
        <dsp:cNvSpPr/>
      </dsp:nvSpPr>
      <dsp:spPr>
        <a:xfrm>
          <a:off x="3444673" y="3392816"/>
          <a:ext cx="1603783" cy="931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e-CH" sz="1400" kern="1200" noProof="0" dirty="0"/>
            <a:t>Übungsblatt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e-CH" sz="1400" kern="1200" noProof="0" dirty="0"/>
            <a:t>Diskussionsforum</a:t>
          </a:r>
        </a:p>
      </dsp:txBody>
      <dsp:txXfrm>
        <a:off x="3444673" y="3392816"/>
        <a:ext cx="1603783" cy="931921"/>
      </dsp:txXfrm>
    </dsp:sp>
    <dsp:sp modelId="{34F321BC-3901-40E6-8FDD-F586CFFDDC3A}">
      <dsp:nvSpPr>
        <dsp:cNvPr id="0" name=""/>
        <dsp:cNvSpPr/>
      </dsp:nvSpPr>
      <dsp:spPr>
        <a:xfrm>
          <a:off x="1640925" y="3545651"/>
          <a:ext cx="1307310" cy="653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 noProof="0" dirty="0"/>
            <a:t>Übungen im Selbststudium</a:t>
          </a:r>
        </a:p>
      </dsp:txBody>
      <dsp:txXfrm>
        <a:off x="1640925" y="3545651"/>
        <a:ext cx="1307310" cy="653587"/>
      </dsp:txXfrm>
    </dsp:sp>
    <dsp:sp modelId="{36479F7A-A868-4E24-A677-7EA1CBD86684}">
      <dsp:nvSpPr>
        <dsp:cNvPr id="0" name=""/>
        <dsp:cNvSpPr/>
      </dsp:nvSpPr>
      <dsp:spPr>
        <a:xfrm>
          <a:off x="639899" y="4199238"/>
          <a:ext cx="2012599" cy="2013572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2">
                <a:hueOff val="12422540"/>
                <a:satOff val="26147"/>
                <a:lumOff val="11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422540"/>
                <a:satOff val="26147"/>
                <a:lumOff val="11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422540"/>
                <a:satOff val="26147"/>
                <a:lumOff val="11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CE97ABA-5AB0-4664-B1DC-F297F6022C4D}">
      <dsp:nvSpPr>
        <dsp:cNvPr id="0" name=""/>
        <dsp:cNvSpPr/>
      </dsp:nvSpPr>
      <dsp:spPr>
        <a:xfrm>
          <a:off x="2855293" y="4741617"/>
          <a:ext cx="2010420" cy="931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400" kern="1200" noProof="0" dirty="0"/>
            <a:t>Diskussion der Vertiefung &amp; Übungen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400" kern="1200" noProof="0" dirty="0"/>
            <a:t>Fragen klären</a:t>
          </a:r>
        </a:p>
      </dsp:txBody>
      <dsp:txXfrm>
        <a:off x="2855293" y="4741617"/>
        <a:ext cx="2010420" cy="931921"/>
      </dsp:txXfrm>
    </dsp:sp>
    <dsp:sp modelId="{FD3D0246-7EF7-4BA7-8B8B-77FB80D5EE0E}">
      <dsp:nvSpPr>
        <dsp:cNvPr id="0" name=""/>
        <dsp:cNvSpPr/>
      </dsp:nvSpPr>
      <dsp:spPr>
        <a:xfrm>
          <a:off x="987490" y="4894452"/>
          <a:ext cx="1307310" cy="653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 noProof="0" dirty="0"/>
            <a:t>Abschluss vor Ort (2. Lektion)</a:t>
          </a:r>
        </a:p>
      </dsp:txBody>
      <dsp:txXfrm>
        <a:off x="987490" y="4894452"/>
        <a:ext cx="1307310" cy="653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C4DB9DB-6345-4FBB-AF46-CB02900B33DA}" type="datetimeFigureOut">
              <a:rPr lang="de-CH" smtClean="0"/>
              <a:t>19.02.26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EB89508-1F08-41D4-B550-010BC32CFC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977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Lizenz des Werkes</a:t>
            </a:r>
          </a:p>
          <a:p>
            <a:r>
              <a:rPr lang="de-CH"/>
              <a:t>ggf. Disclaimer zu Marken </a:t>
            </a:r>
          </a:p>
          <a:p>
            <a:r>
              <a:rPr lang="de-CH"/>
              <a:t>ggf. Einverständnis abgebildete Personen</a:t>
            </a:r>
          </a:p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7BD64-7B66-4468-84E1-5643791D6B2B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60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Grundlagen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103B155-CF82-ECE2-A7B0-9AC641885C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6B64B461-364C-4EE1-97F4-F0917D122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76450" y="1508759"/>
            <a:ext cx="80391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CH" noProof="0"/>
              <a:t>Titelmasterformat durch Klicken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55E6F6E-15A8-410A-A8B6-C021973A07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6450" y="4024785"/>
            <a:ext cx="80391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noProof="0"/>
              <a:t>Formatvorlage des Untertitelmasters durch Klicken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54B671C-F384-A811-3A99-E105DE9487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48"/>
          <a:stretch>
            <a:fillRect/>
          </a:stretch>
        </p:blipFill>
        <p:spPr>
          <a:xfrm>
            <a:off x="139699" y="139700"/>
            <a:ext cx="1194831" cy="11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426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426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4A6038F-352F-4BD4-B698-C425DD1AE7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2884" y="1236132"/>
            <a:ext cx="11181080" cy="50704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771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811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811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4A6038F-352F-4BD4-B698-C425DD1AE7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3201" y="1236132"/>
            <a:ext cx="5518680" cy="50704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4FDA00-1214-437B-81E5-A1AAEF54BA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5284" y="1236132"/>
            <a:ext cx="5518680" cy="50704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95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3844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3844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903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811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811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897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395F99-6153-C27E-C2F8-B774635992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DA513A-EF0F-4676-BFB8-06DF099B32F2}" type="slidenum">
              <a:rPr lang="de-CH" smtClean="0"/>
              <a:t>‹Nr.›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38F756-697B-7018-29B6-F66509D315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311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8217C72-0C11-4133-A324-9FBA4A33FE1A}"/>
              </a:ext>
            </a:extLst>
          </p:cNvPr>
          <p:cNvSpPr/>
          <p:nvPr userDrawn="1"/>
        </p:nvSpPr>
        <p:spPr>
          <a:xfrm>
            <a:off x="-1" y="339327"/>
            <a:ext cx="3960000" cy="1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930D5A5-CFA5-4771-A6F7-D939A6E7C46D}"/>
              </a:ext>
            </a:extLst>
          </p:cNvPr>
          <p:cNvSpPr/>
          <p:nvPr userDrawn="1"/>
        </p:nvSpPr>
        <p:spPr>
          <a:xfrm rot="10800000">
            <a:off x="8232000" y="6480001"/>
            <a:ext cx="3960000" cy="1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platzhalter 7">
            <a:extLst>
              <a:ext uri="{FF2B5EF4-FFF2-40B4-BE49-F238E27FC236}">
                <a16:creationId xmlns:a16="http://schemas.microsoft.com/office/drawing/2014/main" id="{8B76D7F8-94A6-46E8-A1F4-6CDBF0FF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606811"/>
            <a:ext cx="11181080" cy="428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300C3AF-4D4A-44C1-A3A8-28215E2A5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83137" y="6494811"/>
            <a:ext cx="306739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endParaRPr lang="de-CH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FF36415-9179-4C8A-8B79-79F1D64F3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534" y="6494811"/>
            <a:ext cx="64146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A1A64E5A-BB97-465C-9E2D-A4F032C778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93"/>
          <a:stretch/>
        </p:blipFill>
        <p:spPr>
          <a:xfrm>
            <a:off x="11475724" y="87997"/>
            <a:ext cx="628640" cy="668899"/>
          </a:xfrm>
          <a:prstGeom prst="rect">
            <a:avLst/>
          </a:prstGeom>
        </p:spPr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E9D28FD5-BFA3-4B2C-8042-9525A744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1" y="1236132"/>
            <a:ext cx="11181080" cy="5070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D87B312-A562-4B54-9BFF-F4DC1FB21012}"/>
              </a:ext>
            </a:extLst>
          </p:cNvPr>
          <p:cNvSpPr txBox="1"/>
          <p:nvPr userDrawn="1"/>
        </p:nvSpPr>
        <p:spPr>
          <a:xfrm>
            <a:off x="209156" y="0"/>
            <a:ext cx="3605078" cy="3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de-CH" sz="1400" kern="1200" noProof="0" dirty="0">
                <a:solidFill>
                  <a:schemeClr val="accent5"/>
                </a:solidFill>
                <a:latin typeface="+mj-lt"/>
                <a:ea typeface="+mn-ea"/>
                <a:cs typeface="+mn-cs"/>
              </a:rPr>
              <a:t>ICLS | ADLS </a:t>
            </a:r>
            <a:r>
              <a:rPr lang="de-CH" sz="1400" kern="1200" baseline="0" noProof="0" dirty="0">
                <a:solidFill>
                  <a:schemeClr val="accent5"/>
                </a:solidFill>
                <a:latin typeface="+mj-lt"/>
                <a:ea typeface="+mn-ea"/>
                <a:cs typeface="+mn-cs"/>
              </a:rPr>
              <a:t>|</a:t>
            </a:r>
            <a:r>
              <a:rPr lang="de-CH" sz="1400" kern="1200" baseline="0" noProof="0" dirty="0">
                <a:solidFill>
                  <a:schemeClr val="accent4"/>
                </a:solidFill>
                <a:latin typeface="+mj-lt"/>
                <a:ea typeface="+mn-ea"/>
                <a:cs typeface="+mn-cs"/>
              </a:rPr>
              <a:t> NGDS</a:t>
            </a:r>
            <a:endParaRPr lang="de-CH" sz="1400" kern="1200" noProof="0" dirty="0">
              <a:solidFill>
                <a:schemeClr val="accent4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90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3" r:id="rId2"/>
    <p:sldLayoutId id="2147483675" r:id="rId3"/>
    <p:sldLayoutId id="2147483674" r:id="rId4"/>
    <p:sldLayoutId id="2147483676" r:id="rId5"/>
    <p:sldLayoutId id="214748367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zhaw.ch/=hols" TargetMode="External"/><Relationship Id="rId2" Type="http://schemas.openxmlformats.org/officeDocument/2006/relationships/hyperlink" Target="mailto:hols@zhaw.ch" TargetMode="Externa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hyperlink" Target="https://www.zhaw.ch/de/ueber-uns/person/hol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zhaw.ch/=homc" TargetMode="External"/><Relationship Id="rId2" Type="http://schemas.openxmlformats.org/officeDocument/2006/relationships/hyperlink" Target="mailto:homc@zhaw.ch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zhaw.ch/ADLS-Data-Science-and-Computation/Numerische-Grundlagen-FS26" TargetMode="External"/><Relationship Id="rId2" Type="http://schemas.openxmlformats.org/officeDocument/2006/relationships/hyperlink" Target="https://moodle.zhaw.ch/course/view.php?id=28141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A9FA5E-2A78-48AA-83BB-80CD30368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2400" y="1450800"/>
            <a:ext cx="8039100" cy="2387600"/>
          </a:xfrm>
        </p:spPr>
        <p:txBody>
          <a:bodyPr/>
          <a:lstStyle/>
          <a:p>
            <a:r>
              <a:rPr lang="de-CH" noProof="0" dirty="0">
                <a:solidFill>
                  <a:schemeClr val="bg1"/>
                </a:solidFill>
              </a:rPr>
              <a:t>01 – Übersicht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43900119-A935-4C72-B786-22F16F128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2400" y="3931200"/>
            <a:ext cx="8039100" cy="1655762"/>
          </a:xfrm>
        </p:spPr>
        <p:txBody>
          <a:bodyPr/>
          <a:lstStyle/>
          <a:p>
            <a:r>
              <a:rPr lang="de-CH" noProof="0" dirty="0">
                <a:solidFill>
                  <a:schemeClr val="bg1"/>
                </a:solidFill>
              </a:rPr>
              <a:t>Numerische Grundlagen der Data Science</a:t>
            </a:r>
          </a:p>
          <a:p>
            <a:r>
              <a:rPr lang="de-CH" noProof="0" dirty="0"/>
              <a:t>Lukas Hollenstein</a:t>
            </a:r>
            <a:endParaRPr lang="de-CH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31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6">
            <a:extLst>
              <a:ext uri="{FF2B5EF4-FFF2-40B4-BE49-F238E27FC236}">
                <a16:creationId xmlns:a16="http://schemas.microsoft.com/office/drawing/2014/main" id="{64E38E75-51A1-4B5D-B1FF-364AC108DC8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7630" y="1236131"/>
            <a:ext cx="3859499" cy="38594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B1B3EE3-8C22-4E40-91A6-4A6D14C2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/>
              <a:t>Inhalt</a:t>
            </a:r>
            <a:endParaRPr lang="de-CH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5AEB30-EBFA-475F-8138-8ED61358FD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/>
              <a:t>0</a:t>
            </a:r>
            <a:r>
              <a:rPr lang="de-CH" noProof="0"/>
              <a:t>1 – Übersicht</a:t>
            </a:r>
            <a:endParaRPr lang="de-CH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375B39-0E29-4699-A00F-D205E8C601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2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30627C0-157B-4A61-A84B-D49705C48C4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/>
              <a:t>Vorstellung</a:t>
            </a:r>
          </a:p>
          <a:p>
            <a:r>
              <a:rPr lang="de-CH" noProof="0"/>
              <a:t>Lernziele</a:t>
            </a:r>
          </a:p>
          <a:p>
            <a:r>
              <a:rPr lang="de-CH" noProof="0"/>
              <a:t>Themenübersicht</a:t>
            </a:r>
          </a:p>
          <a:p>
            <a:r>
              <a:rPr lang="de-CH" noProof="0"/>
              <a:t>Didaktisches Konzept / Arbeitsweise</a:t>
            </a:r>
          </a:p>
          <a:p>
            <a:r>
              <a:rPr lang="de-CH" noProof="0"/>
              <a:t>Leistungsnachweise</a:t>
            </a:r>
          </a:p>
          <a:p>
            <a:r>
              <a:rPr lang="de-CH" noProof="0"/>
              <a:t>Material und Arbeitsumgebung</a:t>
            </a:r>
          </a:p>
          <a:p>
            <a:r>
              <a:rPr lang="de-CH" noProof="0"/>
              <a:t>Grundlagen</a:t>
            </a:r>
          </a:p>
          <a:p>
            <a:pPr lvl="1"/>
            <a:r>
              <a:rPr lang="de-CH" noProof="0"/>
              <a:t>Kontinuierlich/Analog vs. Diskret/Digital</a:t>
            </a:r>
          </a:p>
          <a:p>
            <a:pPr lvl="1"/>
            <a:r>
              <a:rPr lang="de-CH" noProof="0"/>
              <a:t>Zahlendarstellung &amp; Fehlertypen</a:t>
            </a:r>
          </a:p>
          <a:p>
            <a:pPr lvl="1"/>
            <a:r>
              <a:rPr lang="de-CH" noProof="0"/>
              <a:t>Funktion vs. Folge vs. Daten</a:t>
            </a:r>
          </a:p>
          <a:p>
            <a:r>
              <a:rPr lang="de-CH" noProof="0"/>
              <a:t>Numpy &amp; Matplotlib</a:t>
            </a:r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64638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613A5CC-B10E-4D37-AEBE-6AF1A3093C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27630" y="1236132"/>
            <a:ext cx="4256333" cy="5070464"/>
          </a:xfrm>
        </p:spPr>
        <p:txBody>
          <a:bodyPr/>
          <a:lstStyle/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r>
              <a:rPr lang="de-CH" noProof="0" dirty="0">
                <a:hlinkClick r:id="rId2"/>
              </a:rPr>
              <a:t>hols@zhaw.ch</a:t>
            </a:r>
            <a:endParaRPr lang="de-CH" noProof="0" dirty="0"/>
          </a:p>
          <a:p>
            <a:r>
              <a:rPr lang="de-CH" noProof="0" dirty="0" err="1">
                <a:hlinkClick r:id="rId3"/>
              </a:rPr>
              <a:t>www.</a:t>
            </a:r>
            <a:r>
              <a:rPr lang="de-CH" noProof="0" dirty="0" err="1">
                <a:hlinkClick r:id="rId4"/>
              </a:rPr>
              <a:t>zhaw</a:t>
            </a:r>
            <a:r>
              <a:rPr lang="de-CH" noProof="0" dirty="0" err="1">
                <a:hlinkClick r:id="rId3"/>
              </a:rPr>
              <a:t>.ch</a:t>
            </a:r>
            <a:r>
              <a:rPr lang="de-CH" noProof="0" dirty="0">
                <a:hlinkClick r:id="rId3"/>
              </a:rPr>
              <a:t>/=hols</a:t>
            </a:r>
            <a:endParaRPr lang="de-CH" noProof="0" dirty="0"/>
          </a:p>
        </p:txBody>
      </p:sp>
      <p:pic>
        <p:nvPicPr>
          <p:cNvPr id="23" name="Grafik 22" descr="Ein Bild, das Person, Mann, Himmel, draußen enthält.&#10;&#10;Automatisch generierte Beschreibung">
            <a:extLst>
              <a:ext uri="{FF2B5EF4-FFF2-40B4-BE49-F238E27FC236}">
                <a16:creationId xmlns:a16="http://schemas.microsoft.com/office/drawing/2014/main" id="{6EEDBE25-7712-4470-808A-813D3C81EF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36" t="16413" r="11538" b="6661"/>
          <a:stretch>
            <a:fillRect/>
          </a:stretch>
        </p:blipFill>
        <p:spPr>
          <a:xfrm>
            <a:off x="7127628" y="1236130"/>
            <a:ext cx="3451210" cy="345120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B1B3EE3-8C22-4E40-91A6-4A6D14C2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Vorstellung: Lukas Hollenstein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5AEB30-EBFA-475F-8138-8ED61358FD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375B39-0E29-4699-A00F-D205E8C601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3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30627C0-157B-4A61-A84B-D49705C48C4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de-CH" noProof="0" dirty="0"/>
              <a:t>Theoretischer Physiker (Kosmologie)</a:t>
            </a:r>
          </a:p>
          <a:p>
            <a:pPr lvl="1"/>
            <a:r>
              <a:rPr lang="de-CH" noProof="0" dirty="0"/>
              <a:t>Master Uni Zürich (2000 – 2005)</a:t>
            </a:r>
          </a:p>
          <a:p>
            <a:pPr lvl="1"/>
            <a:r>
              <a:rPr lang="de-CH" noProof="0" dirty="0"/>
              <a:t>PhD Uni Portsmouth (2006 – 2009)</a:t>
            </a:r>
          </a:p>
          <a:p>
            <a:pPr lvl="1"/>
            <a:r>
              <a:rPr lang="de-CH" noProof="0" dirty="0"/>
              <a:t>Postdoc Uni Genf &amp; CEA </a:t>
            </a:r>
            <a:r>
              <a:rPr lang="de-CH" noProof="0" dirty="0" err="1"/>
              <a:t>Saclay</a:t>
            </a:r>
            <a:r>
              <a:rPr lang="de-CH" noProof="0" dirty="0"/>
              <a:t> (2009 – 2013)</a:t>
            </a:r>
          </a:p>
          <a:p>
            <a:r>
              <a:rPr lang="de-CH" noProof="0" dirty="0"/>
              <a:t>ZHAW seit 2013</a:t>
            </a:r>
          </a:p>
          <a:p>
            <a:pPr lvl="1"/>
            <a:r>
              <a:rPr lang="de-CH" noProof="0" dirty="0"/>
              <a:t>Dozent Mathe &amp; Simulation</a:t>
            </a:r>
          </a:p>
          <a:p>
            <a:pPr lvl="1"/>
            <a:r>
              <a:rPr lang="de-CH" noProof="0" dirty="0"/>
              <a:t>Leitung Forschungsgruppe Simulation &amp; </a:t>
            </a:r>
            <a:r>
              <a:rPr lang="de-CH" noProof="0" dirty="0" err="1"/>
              <a:t>Optimization</a:t>
            </a:r>
            <a:endParaRPr lang="de-CH" noProof="0" dirty="0"/>
          </a:p>
          <a:p>
            <a:pPr lvl="1"/>
            <a:r>
              <a:rPr lang="de-CH" noProof="0" dirty="0"/>
              <a:t>Co-Leitung Forschungsschwerpunkt Digital Labs &amp; </a:t>
            </a:r>
            <a:r>
              <a:rPr lang="de-CH" noProof="0" dirty="0" err="1"/>
              <a:t>Production</a:t>
            </a:r>
            <a:endParaRPr lang="de-CH" noProof="0" dirty="0"/>
          </a:p>
          <a:p>
            <a:pPr lvl="1"/>
            <a:r>
              <a:rPr lang="de-CH" noProof="0" dirty="0"/>
              <a:t>Prof. Digital </a:t>
            </a:r>
            <a:r>
              <a:rPr lang="de-CH" noProof="0" dirty="0" err="1"/>
              <a:t>Processes</a:t>
            </a:r>
            <a:r>
              <a:rPr lang="de-CH" noProof="0" dirty="0"/>
              <a:t> in Life Sciences</a:t>
            </a:r>
          </a:p>
          <a:p>
            <a:r>
              <a:rPr lang="de-CH" noProof="0" dirty="0"/>
              <a:t>Sonst so</a:t>
            </a:r>
          </a:p>
          <a:p>
            <a:pPr lvl="1"/>
            <a:r>
              <a:rPr lang="de-CH" noProof="0" dirty="0"/>
              <a:t>Familie: 2 Töchter</a:t>
            </a:r>
          </a:p>
          <a:p>
            <a:pPr lvl="1"/>
            <a:r>
              <a:rPr lang="de-CH" noProof="0" dirty="0"/>
              <a:t>Musik: Schlagzeug, Jazz, Funk, Reggae</a:t>
            </a:r>
          </a:p>
          <a:p>
            <a:pPr lvl="1"/>
            <a:r>
              <a:rPr lang="de-CH" noProof="0" dirty="0"/>
              <a:t>Life Long Learning</a:t>
            </a:r>
          </a:p>
        </p:txBody>
      </p:sp>
    </p:spTree>
    <p:extLst>
      <p:ext uri="{BB962C8B-B14F-4D97-AF65-F5344CB8AC3E}">
        <p14:creationId xmlns:p14="http://schemas.microsoft.com/office/powerpoint/2010/main" val="426633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1B3EE3-8C22-4E40-91A6-4A6D14C2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Vorstellung: Cornelia Hofmann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5AEB30-EBFA-475F-8138-8ED61358FD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375B39-0E29-4699-A00F-D205E8C601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4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30627C0-157B-4A61-A84B-D49705C48C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3201" y="1236132"/>
            <a:ext cx="5572368" cy="5070465"/>
          </a:xfrm>
        </p:spPr>
        <p:txBody>
          <a:bodyPr>
            <a:normAutofit/>
          </a:bodyPr>
          <a:lstStyle/>
          <a:p>
            <a:r>
              <a:rPr lang="de-CH" noProof="0" dirty="0"/>
              <a:t>Physikerin (</a:t>
            </a:r>
            <a:r>
              <a:rPr lang="de-CH" noProof="0" dirty="0" err="1"/>
              <a:t>Attosekundenphysik</a:t>
            </a:r>
            <a:r>
              <a:rPr lang="de-CH" noProof="0" dirty="0"/>
              <a:t>)</a:t>
            </a:r>
          </a:p>
          <a:p>
            <a:pPr lvl="1"/>
            <a:r>
              <a:rPr lang="de-CH" noProof="0" dirty="0" err="1"/>
              <a:t>BSc</a:t>
            </a:r>
            <a:r>
              <a:rPr lang="de-CH" noProof="0" dirty="0"/>
              <a:t> &amp; </a:t>
            </a:r>
            <a:r>
              <a:rPr lang="de-CH" noProof="0" dirty="0" err="1"/>
              <a:t>MSc</a:t>
            </a:r>
            <a:r>
              <a:rPr lang="de-CH" noProof="0" dirty="0"/>
              <a:t> ETH Zürich (2007 – 2012)</a:t>
            </a:r>
          </a:p>
          <a:p>
            <a:pPr lvl="1"/>
            <a:r>
              <a:rPr lang="de-CH" noProof="0" dirty="0"/>
              <a:t>PhD ETH Zürich (2012 – 2016)</a:t>
            </a:r>
          </a:p>
          <a:p>
            <a:pPr lvl="1"/>
            <a:r>
              <a:rPr lang="de-CH" noProof="0" dirty="0"/>
              <a:t>Postdocs MPI Dresden &amp; University College London (2017 – 2022)</a:t>
            </a:r>
          </a:p>
          <a:p>
            <a:r>
              <a:rPr lang="de-CH" noProof="0" dirty="0"/>
              <a:t>ZHAW seit 2022</a:t>
            </a:r>
          </a:p>
          <a:p>
            <a:pPr lvl="1"/>
            <a:r>
              <a:rPr lang="de-CH" noProof="0" dirty="0"/>
              <a:t>Dozentin Physik &amp; Mathematik</a:t>
            </a:r>
          </a:p>
          <a:p>
            <a:pPr lvl="1"/>
            <a:r>
              <a:rPr lang="de-CH" noProof="0" dirty="0"/>
              <a:t>Forschungsgruppe Simulation &amp; </a:t>
            </a:r>
            <a:r>
              <a:rPr lang="de-CH" noProof="0" dirty="0" err="1"/>
              <a:t>Optimization</a:t>
            </a:r>
            <a:endParaRPr lang="de-CH" noProof="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613A5CC-B10E-4D37-AEBE-6AF1A3093C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27628" y="1236132"/>
            <a:ext cx="4256335" cy="5070464"/>
          </a:xfrm>
        </p:spPr>
        <p:txBody>
          <a:bodyPr/>
          <a:lstStyle/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endParaRPr lang="de-CH" noProof="0" dirty="0"/>
          </a:p>
          <a:p>
            <a:r>
              <a:rPr lang="de-CH" noProof="0" dirty="0">
                <a:hlinkClick r:id="rId2"/>
              </a:rPr>
              <a:t>homc@zhaw.ch</a:t>
            </a:r>
            <a:endParaRPr lang="de-CH" noProof="0" dirty="0"/>
          </a:p>
          <a:p>
            <a:r>
              <a:rPr lang="de-CH" noProof="0" dirty="0">
                <a:hlinkClick r:id="rId3"/>
              </a:rPr>
              <a:t>www.zhaw.ch/=homc</a:t>
            </a:r>
            <a:endParaRPr lang="de-CH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DAA4665-6BB6-7F8F-479B-AD78A368A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7628" y="1236131"/>
            <a:ext cx="3451211" cy="345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58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Lernziele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5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noProof="0" dirty="0"/>
              <a:t>Fachkompetenzen</a:t>
            </a:r>
          </a:p>
          <a:p>
            <a:r>
              <a:rPr lang="de-CH" noProof="0" dirty="0"/>
              <a:t>Grundbegriffe und -konzepte der numerischen Mathematik erklären und verwenden</a:t>
            </a:r>
          </a:p>
          <a:p>
            <a:r>
              <a:rPr lang="de-CH" noProof="0" dirty="0"/>
              <a:t>Systematisches Vorgehen für iterative, numerische Algorithmen nutzen</a:t>
            </a:r>
          </a:p>
          <a:p>
            <a:r>
              <a:rPr lang="de-CH" noProof="0" dirty="0"/>
              <a:t>Grundlegende Methoden und Algorithmen der numerischen Analysis, linearen Algebra und Simulation von Zufallsvariablen nennen, erklären und rudimentär implementieren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5A60F02A-6EDF-49E3-BDCB-F671FE272AD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noProof="0" dirty="0"/>
              <a:t>Sachkompetenzen</a:t>
            </a:r>
          </a:p>
          <a:p>
            <a:r>
              <a:rPr lang="de-CH" noProof="0" dirty="0"/>
              <a:t>Techniken zur Programmierung von Algorithmen zu verwenden und zu vergleichen</a:t>
            </a:r>
          </a:p>
          <a:p>
            <a:r>
              <a:rPr lang="de-CH" noProof="0" dirty="0"/>
              <a:t>Python Packages </a:t>
            </a:r>
            <a:r>
              <a:rPr lang="de-CH" noProof="0" dirty="0" err="1"/>
              <a:t>NumPy</a:t>
            </a:r>
            <a:r>
              <a:rPr lang="de-CH" noProof="0" dirty="0"/>
              <a:t>, </a:t>
            </a:r>
            <a:r>
              <a:rPr lang="de-CH" noProof="0" dirty="0" err="1"/>
              <a:t>SciPy</a:t>
            </a:r>
            <a:r>
              <a:rPr lang="de-CH" noProof="0" dirty="0"/>
              <a:t> und </a:t>
            </a:r>
            <a:r>
              <a:rPr lang="de-CH" noProof="0" dirty="0" err="1"/>
              <a:t>Matplotlib</a:t>
            </a:r>
            <a:r>
              <a:rPr lang="de-CH" noProof="0" dirty="0"/>
              <a:t> effektiv in eigenem Code einzusetzen</a:t>
            </a:r>
          </a:p>
          <a:p>
            <a:r>
              <a:rPr lang="de-CH" noProof="0" dirty="0"/>
              <a:t>Sich beim Programmieren anhand von Dokumentation und Online-Ressourcen selbst helfen</a:t>
            </a:r>
          </a:p>
          <a:p>
            <a:r>
              <a:rPr lang="de-CH" noProof="0" dirty="0"/>
              <a:t>Über Arbeitsweise von Programmcode reflektieren</a:t>
            </a:r>
          </a:p>
          <a:p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724356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6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b="1" noProof="0" dirty="0"/>
              <a:t>Grundlagen</a:t>
            </a:r>
            <a:r>
              <a:rPr lang="de-CH" noProof="0" dirty="0"/>
              <a:t>:</a:t>
            </a:r>
          </a:p>
          <a:p>
            <a:pPr lvl="1"/>
            <a:r>
              <a:rPr lang="de-CH" noProof="0" dirty="0"/>
              <a:t>Arbeiten mit mehrdimensionalen Arrays</a:t>
            </a:r>
          </a:p>
          <a:p>
            <a:pPr lvl="1"/>
            <a:r>
              <a:rPr lang="de-CH" noProof="0" dirty="0"/>
              <a:t>Lineare Algebra</a:t>
            </a:r>
          </a:p>
          <a:p>
            <a:pPr lvl="1"/>
            <a:r>
              <a:rPr lang="de-CH" noProof="0" dirty="0"/>
              <a:t>Funktionen und Daten darstellen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7AE166D-7335-4E0C-891D-D18DB0403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698" y="1566730"/>
            <a:ext cx="4711266" cy="468446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3E9A144-12A6-4835-8C25-99E2196D6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086" y="266308"/>
            <a:ext cx="1974055" cy="286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9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7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/>
              <a:t>Grundlagen:</a:t>
            </a:r>
          </a:p>
          <a:p>
            <a:pPr lvl="1"/>
            <a:r>
              <a:rPr lang="de-CH" noProof="0" dirty="0"/>
              <a:t>Arbeiten mit mehrdimensionalen Arrays</a:t>
            </a:r>
          </a:p>
          <a:p>
            <a:pPr lvl="1"/>
            <a:r>
              <a:rPr lang="de-CH" noProof="0" dirty="0"/>
              <a:t>Lineare Algebra</a:t>
            </a:r>
          </a:p>
          <a:p>
            <a:pPr lvl="1"/>
            <a:r>
              <a:rPr lang="de-CH" noProof="0" dirty="0"/>
              <a:t>Funktionen und Daten darstellen</a:t>
            </a:r>
          </a:p>
          <a:p>
            <a:r>
              <a:rPr lang="de-CH" b="1" noProof="0" dirty="0"/>
              <a:t>Zwischenwerte schätzen: Interpolation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CB3CE0F-7591-4303-B69E-A156223AD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573" y="1356659"/>
            <a:ext cx="5146694" cy="414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5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61BA69-0451-9A07-21D3-F7DBBF7FB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885" y="1674320"/>
            <a:ext cx="4796381" cy="35093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8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/>
              <a:t>Grundlagen:</a:t>
            </a:r>
          </a:p>
          <a:p>
            <a:pPr lvl="1"/>
            <a:r>
              <a:rPr lang="de-CH" noProof="0" dirty="0"/>
              <a:t>Arbeiten mit mehrdimensionalen Arrays</a:t>
            </a:r>
          </a:p>
          <a:p>
            <a:pPr lvl="1"/>
            <a:r>
              <a:rPr lang="de-CH" noProof="0" dirty="0"/>
              <a:t>Lineare Algebra</a:t>
            </a:r>
          </a:p>
          <a:p>
            <a:pPr lvl="1"/>
            <a:r>
              <a:rPr lang="de-CH" noProof="0" dirty="0"/>
              <a:t>Funktionen und Daten darstellen</a:t>
            </a:r>
          </a:p>
          <a:p>
            <a:r>
              <a:rPr lang="de-CH" noProof="0" dirty="0"/>
              <a:t>Zwischenwerte schätzen: Interpolation</a:t>
            </a:r>
          </a:p>
          <a:p>
            <a:r>
              <a:rPr lang="de-CH" b="1" noProof="0" dirty="0"/>
              <a:t>Gleichungen lösen: Nullstellen &amp; Fixpunkte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11D608E-3ACE-2980-408B-9ACC55553BA1}"/>
              </a:ext>
            </a:extLst>
          </p:cNvPr>
          <p:cNvCxnSpPr/>
          <p:nvPr/>
        </p:nvCxnSpPr>
        <p:spPr>
          <a:xfrm>
            <a:off x="7815608" y="3412420"/>
            <a:ext cx="3892731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08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B32F1E-3846-E391-B9AF-EE0B2A5C8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576" y="278540"/>
            <a:ext cx="4102545" cy="304722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9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/>
              <a:t>Grundlagen:</a:t>
            </a:r>
          </a:p>
          <a:p>
            <a:pPr lvl="1"/>
            <a:r>
              <a:rPr lang="de-CH" noProof="0" dirty="0"/>
              <a:t>Arbeiten mit mehrdimensionalen Arrays</a:t>
            </a:r>
          </a:p>
          <a:p>
            <a:pPr lvl="1"/>
            <a:r>
              <a:rPr lang="de-CH" noProof="0" dirty="0"/>
              <a:t>Lineare Algebra</a:t>
            </a:r>
          </a:p>
          <a:p>
            <a:pPr lvl="1"/>
            <a:r>
              <a:rPr lang="de-CH" noProof="0" dirty="0"/>
              <a:t>Funktionen und Daten darstellen</a:t>
            </a:r>
          </a:p>
          <a:p>
            <a:r>
              <a:rPr lang="de-CH" noProof="0" dirty="0"/>
              <a:t>Zwischenwerte schätzen: Interpolation</a:t>
            </a:r>
          </a:p>
          <a:p>
            <a:r>
              <a:rPr lang="de-CH" noProof="0" dirty="0"/>
              <a:t>Gleichungen lösen: Nullstellen &amp; Fixpunkte</a:t>
            </a:r>
          </a:p>
          <a:p>
            <a:r>
              <a:rPr lang="de-CH" b="1" noProof="0" dirty="0"/>
              <a:t>Ableitung in einer und mehreren Variablen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2E0C520-F572-DA6A-8EF4-473E6D581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0039" y="3429000"/>
            <a:ext cx="3663100" cy="304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2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C30AF8-1051-98F2-095B-FB84F156E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453" y="304556"/>
            <a:ext cx="3984989" cy="3024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10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/>
              <a:t>Grundlagen:</a:t>
            </a:r>
          </a:p>
          <a:p>
            <a:pPr lvl="1"/>
            <a:r>
              <a:rPr lang="de-CH" noProof="0" dirty="0"/>
              <a:t>Arbeiten mit mehrdimensionalen Arrays</a:t>
            </a:r>
          </a:p>
          <a:p>
            <a:pPr lvl="1"/>
            <a:r>
              <a:rPr lang="de-CH" noProof="0" dirty="0"/>
              <a:t>Lineare Algebra</a:t>
            </a:r>
          </a:p>
          <a:p>
            <a:pPr lvl="1"/>
            <a:r>
              <a:rPr lang="de-CH" noProof="0" dirty="0"/>
              <a:t>Funktionen und Daten darstellen</a:t>
            </a:r>
          </a:p>
          <a:p>
            <a:r>
              <a:rPr lang="de-CH" noProof="0" dirty="0"/>
              <a:t>Zwischenwerte schätzen: Interpolation</a:t>
            </a:r>
          </a:p>
          <a:p>
            <a:r>
              <a:rPr lang="de-CH" noProof="0" dirty="0"/>
              <a:t>Gleichungen lösen: Nullstellen &amp; Fixpunkte</a:t>
            </a:r>
          </a:p>
          <a:p>
            <a:r>
              <a:rPr lang="de-CH" noProof="0" dirty="0"/>
              <a:t>Ableitung in einer und mehreren Variablen</a:t>
            </a:r>
          </a:p>
          <a:p>
            <a:r>
              <a:rPr lang="de-CH" b="1" noProof="0" dirty="0"/>
              <a:t>Integration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50E19B2-E78E-4BDC-0BBD-ABE756B12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453" y="3429000"/>
            <a:ext cx="4156274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3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606D0F-9889-0597-53D7-383D4D454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475" y="1403193"/>
            <a:ext cx="5217791" cy="40516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11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/>
              <a:t>Grundlagen:</a:t>
            </a:r>
          </a:p>
          <a:p>
            <a:pPr lvl="1"/>
            <a:r>
              <a:rPr lang="de-CH" noProof="0" dirty="0"/>
              <a:t>Arbeiten mit mehrdimensionalen Arrays</a:t>
            </a:r>
          </a:p>
          <a:p>
            <a:pPr lvl="1"/>
            <a:r>
              <a:rPr lang="de-CH" noProof="0" dirty="0"/>
              <a:t>Lineare Algebra</a:t>
            </a:r>
          </a:p>
          <a:p>
            <a:pPr lvl="1"/>
            <a:r>
              <a:rPr lang="de-CH" noProof="0" dirty="0"/>
              <a:t>Funktionen und Daten darstellen</a:t>
            </a:r>
          </a:p>
          <a:p>
            <a:r>
              <a:rPr lang="de-CH" noProof="0" dirty="0"/>
              <a:t>Zwischenwerte schätzen: Interpolation</a:t>
            </a:r>
          </a:p>
          <a:p>
            <a:r>
              <a:rPr lang="de-CH" noProof="0" dirty="0"/>
              <a:t>Gleichungen lösen: Nullstellen &amp; Fixpunkte</a:t>
            </a:r>
          </a:p>
          <a:p>
            <a:r>
              <a:rPr lang="de-CH" noProof="0" dirty="0"/>
              <a:t>Ableitung in einer und mehreren Variablen</a:t>
            </a:r>
          </a:p>
          <a:p>
            <a:r>
              <a:rPr lang="de-CH" noProof="0" dirty="0"/>
              <a:t>Integration</a:t>
            </a:r>
          </a:p>
          <a:p>
            <a:r>
              <a:rPr lang="de-CH" b="1" noProof="0" dirty="0"/>
              <a:t>Gewöhnliche Differentialgleichungen</a:t>
            </a:r>
          </a:p>
        </p:txBody>
      </p:sp>
    </p:spTree>
    <p:extLst>
      <p:ext uri="{BB962C8B-B14F-4D97-AF65-F5344CB8AC3E}">
        <p14:creationId xmlns:p14="http://schemas.microsoft.com/office/powerpoint/2010/main" val="316150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12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/>
              <a:t>Grundlagen:</a:t>
            </a:r>
          </a:p>
          <a:p>
            <a:pPr lvl="1"/>
            <a:r>
              <a:rPr lang="de-CH" noProof="0" dirty="0"/>
              <a:t>Arbeiten mit mehrdimensionalen Arrays</a:t>
            </a:r>
          </a:p>
          <a:p>
            <a:pPr lvl="1"/>
            <a:r>
              <a:rPr lang="de-CH" noProof="0" dirty="0"/>
              <a:t>Lineare Algebra</a:t>
            </a:r>
          </a:p>
          <a:p>
            <a:pPr lvl="1"/>
            <a:r>
              <a:rPr lang="de-CH" noProof="0" dirty="0"/>
              <a:t>Funktionen und Daten darstellen</a:t>
            </a:r>
          </a:p>
          <a:p>
            <a:r>
              <a:rPr lang="de-CH" noProof="0" dirty="0"/>
              <a:t>Zwischenwerte schätzen: Interpolation</a:t>
            </a:r>
          </a:p>
          <a:p>
            <a:r>
              <a:rPr lang="de-CH" noProof="0" dirty="0"/>
              <a:t>Gleichungen lösen: Nullstellen &amp; Fixpunkte</a:t>
            </a:r>
          </a:p>
          <a:p>
            <a:r>
              <a:rPr lang="de-CH" noProof="0" dirty="0"/>
              <a:t>Ableitung in einer und mehreren Variablen</a:t>
            </a:r>
          </a:p>
          <a:p>
            <a:r>
              <a:rPr lang="de-CH" noProof="0" dirty="0"/>
              <a:t>Integration</a:t>
            </a:r>
          </a:p>
          <a:p>
            <a:r>
              <a:rPr lang="de-CH" b="1" noProof="0" dirty="0"/>
              <a:t>Zufallszahlen &amp; stochastische Prozesse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E938D60-3E48-4596-E67B-9A290C8D5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091" y="299283"/>
            <a:ext cx="3692892" cy="296343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F1A477B-E4EB-0651-0E02-B08F1ABA9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448" y="3286122"/>
            <a:ext cx="3764535" cy="298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06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606810"/>
            <a:ext cx="3479337" cy="1384087"/>
          </a:xfrm>
        </p:spPr>
        <p:txBody>
          <a:bodyPr anchor="t"/>
          <a:lstStyle/>
          <a:p>
            <a:r>
              <a:rPr lang="de-CH" noProof="0" dirty="0">
                <a:sym typeface="Wingdings" panose="05000000000000000000" pitchFamily="2" charset="2"/>
              </a:rPr>
              <a:t>Semesterplan</a:t>
            </a:r>
            <a:br>
              <a:rPr lang="de-CH" noProof="0" dirty="0">
                <a:sym typeface="Wingdings" panose="05000000000000000000" pitchFamily="2" charset="2"/>
              </a:rPr>
            </a:br>
            <a:r>
              <a:rPr lang="de-CH" noProof="0" dirty="0">
                <a:sym typeface="Wingdings" panose="05000000000000000000" pitchFamily="2" charset="2"/>
              </a:rPr>
              <a:t>(auch auf Moodle)</a:t>
            </a:r>
            <a:endParaRPr lang="de-CH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13</a:t>
            </a:fld>
            <a:endParaRPr lang="de-CH" noProof="0" dirty="0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486829AA-CBA8-F5E6-4791-8F7D8D7630E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535057" y="606810"/>
            <a:ext cx="7850133" cy="5644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5652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Didaktisches Konzept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14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noProof="0" dirty="0"/>
              <a:t>Ziele / Überzeugung</a:t>
            </a:r>
          </a:p>
          <a:p>
            <a:r>
              <a:rPr lang="de-CH" noProof="0" dirty="0"/>
              <a:t>Motivation durch konkrete Beispiele</a:t>
            </a:r>
          </a:p>
          <a:p>
            <a:pPr lvl="1"/>
            <a:r>
              <a:rPr lang="de-CH" noProof="0" dirty="0"/>
              <a:t>Mehr Praxis – weniger Theorie</a:t>
            </a:r>
          </a:p>
          <a:p>
            <a:r>
              <a:rPr lang="de-CH" noProof="0" dirty="0"/>
              <a:t>Lernen durch aktives Tun</a:t>
            </a:r>
          </a:p>
          <a:p>
            <a:pPr lvl="1"/>
            <a:r>
              <a:rPr lang="de-CH" noProof="0" dirty="0"/>
              <a:t>Viel selbstständige Arbeit</a:t>
            </a:r>
          </a:p>
          <a:p>
            <a:r>
              <a:rPr lang="de-CH" noProof="0" dirty="0"/>
              <a:t>Produktives Scheitern</a:t>
            </a:r>
          </a:p>
          <a:p>
            <a:pPr lvl="1"/>
            <a:r>
              <a:rPr lang="de-CH" noProof="0" dirty="0"/>
              <a:t>Selbst ausprobieren – in der Gruppe diskutieren</a:t>
            </a:r>
          </a:p>
          <a:p>
            <a:pPr lvl="1"/>
            <a:r>
              <a:rPr lang="de-CH" noProof="0" dirty="0"/>
              <a:t>Iterativ verbessern und vertiefen</a:t>
            </a:r>
          </a:p>
          <a:p>
            <a:r>
              <a:rPr lang="de-CH" noProof="0" dirty="0" err="1"/>
              <a:t>Flipped</a:t>
            </a:r>
            <a:r>
              <a:rPr lang="de-CH" noProof="0" dirty="0"/>
              <a:t> Classroom</a:t>
            </a:r>
          </a:p>
          <a:p>
            <a:pPr lvl="1"/>
            <a:r>
              <a:rPr lang="de-CH" noProof="0" dirty="0"/>
              <a:t>Wissensvermittlung im Selbststudium mithilfe von Arbeitsblättern und Videos</a:t>
            </a:r>
          </a:p>
          <a:p>
            <a:pPr lvl="1"/>
            <a:r>
              <a:rPr lang="de-CH" noProof="0" dirty="0"/>
              <a:t>Vertiefung &amp; Festigung in Präsenz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597C784-5A95-4395-9F9F-E990135281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noProof="0" dirty="0"/>
              <a:t>Arbeitsweise</a:t>
            </a: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E3532CC0-55AE-4867-BB29-E1361719C7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2561775"/>
              </p:ext>
            </p:extLst>
          </p:nvPr>
        </p:nvGraphicFramePr>
        <p:xfrm>
          <a:off x="6548968" y="93785"/>
          <a:ext cx="5439831" cy="6212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7508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AA9E-EA4D-7944-C333-67E29F33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E65F2-C713-B71F-97A4-7C01CE23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Lernzyklus (auch auf Moodle)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4997B58-0430-9D1F-C245-F65A84CA0B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0824E4-C964-F09A-B0EF-7C7BA9B1E5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15</a:t>
            </a:fld>
            <a:endParaRPr lang="de-CH" noProof="0" dirty="0"/>
          </a:p>
        </p:txBody>
      </p:sp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AD70E99A-BD7E-CEA5-997D-315D051819F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rcRect/>
          <a:stretch/>
        </p:blipFill>
        <p:spPr>
          <a:xfrm>
            <a:off x="595505" y="1391088"/>
            <a:ext cx="11000990" cy="474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99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Leistungsnachweise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16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/>
              <a:t>Erfahrungsnote durch Gruppenarbeit (Projekt)</a:t>
            </a:r>
          </a:p>
          <a:p>
            <a:pPr lvl="1"/>
            <a:r>
              <a:rPr lang="de-CH" noProof="0" dirty="0"/>
              <a:t>Start in Semesterwoche </a:t>
            </a:r>
            <a:r>
              <a:rPr lang="de-CH" dirty="0"/>
              <a:t>4</a:t>
            </a:r>
            <a:endParaRPr lang="de-CH" noProof="0" dirty="0"/>
          </a:p>
          <a:p>
            <a:pPr lvl="2"/>
            <a:r>
              <a:rPr lang="de-CH" noProof="0" dirty="0"/>
              <a:t>Einige benötigte Methoden werden erst in den Wochen danach behandelt.</a:t>
            </a:r>
          </a:p>
          <a:p>
            <a:pPr lvl="1"/>
            <a:r>
              <a:rPr lang="de-CH" noProof="0" dirty="0"/>
              <a:t>Präsentation als Video</a:t>
            </a:r>
          </a:p>
          <a:p>
            <a:pPr lvl="1"/>
            <a:r>
              <a:rPr lang="de-CH" noProof="0" dirty="0"/>
              <a:t>Gewichtung 40 %</a:t>
            </a:r>
          </a:p>
          <a:p>
            <a:endParaRPr lang="de-CH" noProof="0" dirty="0"/>
          </a:p>
          <a:p>
            <a:r>
              <a:rPr lang="de-CH" noProof="0" dirty="0"/>
              <a:t>Abgesetzte Modulprüfung im Juni</a:t>
            </a:r>
          </a:p>
          <a:p>
            <a:pPr lvl="1"/>
            <a:r>
              <a:rPr lang="de-CH" noProof="0" dirty="0"/>
              <a:t>Einzelarbeit</a:t>
            </a:r>
          </a:p>
          <a:p>
            <a:pPr lvl="1"/>
            <a:r>
              <a:rPr lang="de-CH" noProof="0" dirty="0"/>
              <a:t>E-Assessment &amp; evtl. teilweise auf Papier</a:t>
            </a:r>
          </a:p>
          <a:p>
            <a:pPr lvl="1"/>
            <a:r>
              <a:rPr lang="de-CH" noProof="0" dirty="0"/>
              <a:t>Dauer 90 min</a:t>
            </a:r>
          </a:p>
          <a:p>
            <a:pPr lvl="1"/>
            <a:r>
              <a:rPr lang="de-CH" noProof="0" dirty="0"/>
              <a:t>Gewichtung 60 %</a:t>
            </a:r>
          </a:p>
          <a:p>
            <a:endParaRPr lang="de-CH" noProof="0" dirty="0"/>
          </a:p>
          <a:p>
            <a:r>
              <a:rPr lang="de-CH" noProof="0" dirty="0"/>
              <a:t>Details zu beiden folgen später.</a:t>
            </a:r>
          </a:p>
        </p:txBody>
      </p:sp>
    </p:spTree>
    <p:extLst>
      <p:ext uri="{BB962C8B-B14F-4D97-AF65-F5344CB8AC3E}">
        <p14:creationId xmlns:p14="http://schemas.microsoft.com/office/powerpoint/2010/main" val="2925284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49D72-593B-4C53-BA13-1A51237F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Material und Arbeitsumgebung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17E11F-B213-4EEE-94B9-382A556EF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BE9564-0358-4A86-8A9D-9D3FE357E6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17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32F676-36BD-4827-BBC1-F6F41088B4F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>
                <a:hlinkClick r:id="rId2"/>
              </a:rPr>
              <a:t>Moodle-Kurs</a:t>
            </a:r>
            <a:r>
              <a:rPr lang="de-CH" noProof="0" dirty="0"/>
              <a:t> anschauen</a:t>
            </a:r>
          </a:p>
          <a:p>
            <a:pPr lvl="1"/>
            <a:r>
              <a:rPr lang="de-CH" noProof="0" dirty="0"/>
              <a:t>Nachrichtenforum</a:t>
            </a:r>
          </a:p>
          <a:p>
            <a:pPr lvl="1"/>
            <a:r>
              <a:rPr lang="de-CH" noProof="0" dirty="0"/>
              <a:t>Wichtige Dokumente</a:t>
            </a:r>
          </a:p>
          <a:p>
            <a:pPr lvl="1"/>
            <a:r>
              <a:rPr lang="de-CH" noProof="0" dirty="0"/>
              <a:t>Links zu Ressourcen</a:t>
            </a:r>
          </a:p>
          <a:p>
            <a:r>
              <a:rPr lang="de-CH" noProof="0" dirty="0">
                <a:hlinkClick r:id="rId3"/>
              </a:rPr>
              <a:t>GitHub Repo</a:t>
            </a:r>
            <a:endParaRPr lang="de-CH" noProof="0" dirty="0"/>
          </a:p>
          <a:p>
            <a:pPr lvl="1"/>
            <a:r>
              <a:rPr lang="de-CH" noProof="0" dirty="0"/>
              <a:t>Anleitung</a:t>
            </a:r>
          </a:p>
          <a:p>
            <a:pPr lvl="1"/>
            <a:r>
              <a:rPr lang="de-CH" noProof="0" dirty="0"/>
              <a:t>Arbeitsmaterial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07B32A-1DC2-4B10-827D-77598916CD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noProof="0" dirty="0"/>
              <a:t>Arbeitsumgebung aufsetzen</a:t>
            </a:r>
          </a:p>
          <a:p>
            <a:r>
              <a:rPr lang="de-CH" noProof="0" dirty="0"/>
              <a:t>Arbeitsverzeichnis erstellen</a:t>
            </a:r>
          </a:p>
          <a:p>
            <a:r>
              <a:rPr lang="de-CH" noProof="0" dirty="0"/>
              <a:t>GitHub Repository klonen</a:t>
            </a:r>
          </a:p>
          <a:p>
            <a:r>
              <a:rPr lang="de-CH" noProof="0" dirty="0"/>
              <a:t>Virtual Environment erzeugen</a:t>
            </a:r>
          </a:p>
          <a:p>
            <a:r>
              <a:rPr lang="de-CH" noProof="0" dirty="0"/>
              <a:t>(optional) Eigenes Repo aufsetzen</a:t>
            </a:r>
          </a:p>
        </p:txBody>
      </p:sp>
    </p:spTree>
    <p:extLst>
      <p:ext uri="{BB962C8B-B14F-4D97-AF65-F5344CB8AC3E}">
        <p14:creationId xmlns:p14="http://schemas.microsoft.com/office/powerpoint/2010/main" val="2307155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55E6E7-EBA2-E974-D65F-984F5A5260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67" y="1161776"/>
            <a:ext cx="3063531" cy="17232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1B3261-8693-0AE4-BA96-78B0B1DF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Workflow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6A2C56-D076-6E03-465A-D20F31B90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7927B-759F-D99E-C7A2-D72AB232F1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18</a:t>
            </a:fld>
            <a:endParaRPr lang="de-CH" noProof="0" dirty="0"/>
          </a:p>
        </p:txBody>
      </p:sp>
      <p:pic>
        <p:nvPicPr>
          <p:cNvPr id="10" name="Graphic 9" descr="Folder with solid fill">
            <a:extLst>
              <a:ext uri="{FF2B5EF4-FFF2-40B4-BE49-F238E27FC236}">
                <a16:creationId xmlns:a16="http://schemas.microsoft.com/office/drawing/2014/main" id="{6E588BCD-52DF-4DB4-8ABE-8E7D6EFAA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550" y="3583815"/>
            <a:ext cx="1972365" cy="19723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Graphic 10" descr="Folder with solid fill">
            <a:extLst>
              <a:ext uri="{FF2B5EF4-FFF2-40B4-BE49-F238E27FC236}">
                <a16:creationId xmlns:a16="http://schemas.microsoft.com/office/drawing/2014/main" id="{DC282665-4622-D302-D500-3EE16353F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750" y="3583814"/>
            <a:ext cx="1972365" cy="19723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21AFF153-B705-3F6A-4DCC-9E13DAE085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167" y="1161776"/>
            <a:ext cx="3063531" cy="17232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BFB4CB32-A88F-FFCB-B337-5B531C64ABDA}"/>
              </a:ext>
            </a:extLst>
          </p:cNvPr>
          <p:cNvSpPr/>
          <p:nvPr/>
        </p:nvSpPr>
        <p:spPr>
          <a:xfrm rot="16200000">
            <a:off x="5073684" y="3955708"/>
            <a:ext cx="835297" cy="18917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36AA270-F557-637A-9E6F-59B863FDC8EE}"/>
              </a:ext>
            </a:extLst>
          </p:cNvPr>
          <p:cNvSpPr/>
          <p:nvPr/>
        </p:nvSpPr>
        <p:spPr>
          <a:xfrm rot="10800000">
            <a:off x="8545124" y="3068921"/>
            <a:ext cx="733616" cy="759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7B6DABC-D272-1641-9698-639F85468039}"/>
              </a:ext>
            </a:extLst>
          </p:cNvPr>
          <p:cNvSpPr/>
          <p:nvPr/>
        </p:nvSpPr>
        <p:spPr>
          <a:xfrm>
            <a:off x="1703924" y="3068921"/>
            <a:ext cx="733616" cy="759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6411E-8C99-E3D8-E1C7-4AB2C88C7680}"/>
              </a:ext>
            </a:extLst>
          </p:cNvPr>
          <p:cNvSpPr txBox="1"/>
          <p:nvPr/>
        </p:nvSpPr>
        <p:spPr>
          <a:xfrm>
            <a:off x="3030329" y="1238675"/>
            <a:ext cx="8515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noProof="0" dirty="0"/>
              <a:t>Repo:</a:t>
            </a:r>
          </a:p>
          <a:p>
            <a:r>
              <a:rPr lang="de-CH" noProof="0" dirty="0"/>
              <a:t>NGDS</a:t>
            </a:r>
          </a:p>
          <a:p>
            <a:r>
              <a:rPr lang="de-CH" noProof="0" dirty="0"/>
              <a:t>DZP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E2574E-DC9A-5465-35CF-8BA70A6B5431}"/>
              </a:ext>
            </a:extLst>
          </p:cNvPr>
          <p:cNvSpPr txBox="1"/>
          <p:nvPr/>
        </p:nvSpPr>
        <p:spPr>
          <a:xfrm>
            <a:off x="2678392" y="327418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noProof="0" dirty="0"/>
              <a:t>Pull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8C61E4-3161-F665-DB90-F5EEAC3F10C1}"/>
              </a:ext>
            </a:extLst>
          </p:cNvPr>
          <p:cNvSpPr txBox="1"/>
          <p:nvPr/>
        </p:nvSpPr>
        <p:spPr>
          <a:xfrm>
            <a:off x="1057964" y="5408334"/>
            <a:ext cx="4525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de-CH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ADLS\NGDS-DZP\</a:t>
            </a:r>
            <a:endParaRPr lang="de-CH" noProof="0" dirty="0"/>
          </a:p>
          <a:p>
            <a:pPr marL="285750" indent="-285750">
              <a:buFontTx/>
              <a:buChar char="-"/>
            </a:pPr>
            <a:r>
              <a:rPr lang="de-CH" noProof="0" dirty="0"/>
              <a:t>Numerische-Grundlagen-FS25</a:t>
            </a:r>
          </a:p>
          <a:p>
            <a:pPr marL="285750" indent="-285750">
              <a:buFontTx/>
              <a:buChar char="-"/>
            </a:pPr>
            <a:r>
              <a:rPr lang="de-CH" noProof="0" dirty="0"/>
              <a:t>Datenzentriertes-Programmieren-FS25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80DD71-2F8C-44BE-6EAD-D10FE67EDD1A}"/>
              </a:ext>
            </a:extLst>
          </p:cNvPr>
          <p:cNvSpPr txBox="1"/>
          <p:nvPr/>
        </p:nvSpPr>
        <p:spPr>
          <a:xfrm>
            <a:off x="4545476" y="394072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noProof="0" dirty="0"/>
              <a:t>Copy &amp; Paste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E7F3E6-C0F1-555D-FEAB-038314A7132F}"/>
              </a:ext>
            </a:extLst>
          </p:cNvPr>
          <p:cNvSpPr txBox="1"/>
          <p:nvPr/>
        </p:nvSpPr>
        <p:spPr>
          <a:xfrm>
            <a:off x="7925751" y="5408334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de-CH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ADLS\NGDS-DZP\</a:t>
            </a:r>
            <a:endParaRPr lang="de-CH" noProof="0" dirty="0"/>
          </a:p>
          <a:p>
            <a:pPr marL="285750" indent="-285750">
              <a:buFontTx/>
              <a:buChar char="-"/>
            </a:pPr>
            <a:r>
              <a:rPr lang="de-CH" noProof="0" dirty="0"/>
              <a:t>NGDS-Name</a:t>
            </a:r>
          </a:p>
          <a:p>
            <a:pPr marL="285750" indent="-285750">
              <a:buFontTx/>
              <a:buChar char="-"/>
            </a:pPr>
            <a:r>
              <a:rPr lang="de-CH" noProof="0" dirty="0"/>
              <a:t>DZP-Name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17BE8D-BF86-0FDD-7BD5-38E3B263B88F}"/>
              </a:ext>
            </a:extLst>
          </p:cNvPr>
          <p:cNvSpPr txBox="1"/>
          <p:nvPr/>
        </p:nvSpPr>
        <p:spPr>
          <a:xfrm>
            <a:off x="9733247" y="327418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noProof="0" dirty="0"/>
              <a:t>Push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1DF46F-AE23-6E58-2DE1-35AFD01CFB90}"/>
              </a:ext>
            </a:extLst>
          </p:cNvPr>
          <p:cNvSpPr txBox="1"/>
          <p:nvPr/>
        </p:nvSpPr>
        <p:spPr>
          <a:xfrm>
            <a:off x="10035548" y="1406374"/>
            <a:ext cx="15440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noProof="0" dirty="0"/>
              <a:t>Repo:</a:t>
            </a:r>
          </a:p>
          <a:p>
            <a:r>
              <a:rPr lang="de-CH" noProof="0" dirty="0"/>
              <a:t>Name-NGDS</a:t>
            </a:r>
          </a:p>
          <a:p>
            <a:r>
              <a:rPr lang="de-CH" noProof="0" dirty="0"/>
              <a:t>Name-DZP</a:t>
            </a:r>
          </a:p>
        </p:txBody>
      </p:sp>
    </p:spTree>
    <p:extLst>
      <p:ext uri="{BB962C8B-B14F-4D97-AF65-F5344CB8AC3E}">
        <p14:creationId xmlns:p14="http://schemas.microsoft.com/office/powerpoint/2010/main" val="3796962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86585-7D0C-2A1B-76AC-5A792F3C7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Lokale Ordner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04687-3CAB-DDA7-43B1-F6D7C682AF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A5A76-A45F-BA62-118D-08EF77C5ED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19</a:t>
            </a:fld>
            <a:endParaRPr lang="de-CH" noProof="0" dirty="0"/>
          </a:p>
        </p:txBody>
      </p:sp>
      <p:pic>
        <p:nvPicPr>
          <p:cNvPr id="7" name="Graphic 6" descr="Folder with solid fill">
            <a:extLst>
              <a:ext uri="{FF2B5EF4-FFF2-40B4-BE49-F238E27FC236}">
                <a16:creationId xmlns:a16="http://schemas.microsoft.com/office/drawing/2014/main" id="{57CD545E-16EC-E292-4913-9B3B5EDBA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784" y="1218094"/>
            <a:ext cx="1972365" cy="19723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1D66C4-90C2-F9F9-ABB4-3BC63C979E8E}"/>
              </a:ext>
            </a:extLst>
          </p:cNvPr>
          <p:cNvSpPr txBox="1"/>
          <p:nvPr/>
        </p:nvSpPr>
        <p:spPr>
          <a:xfrm>
            <a:off x="635977" y="3244639"/>
            <a:ext cx="446147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de-CH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ADLS\NGDS-DZP\</a:t>
            </a:r>
          </a:p>
          <a:p>
            <a:pPr marL="285750" indent="-285750">
              <a:buFontTx/>
              <a:buChar char="-"/>
            </a:pPr>
            <a:r>
              <a:rPr lang="de-CH" noProof="0" dirty="0"/>
              <a:t>Datenzentriertes-Programmieren-FS25</a:t>
            </a:r>
          </a:p>
          <a:p>
            <a:pPr marL="285750" indent="-285750">
              <a:buFontTx/>
              <a:buChar char="-"/>
            </a:pPr>
            <a:r>
              <a:rPr lang="de-CH" noProof="0" dirty="0"/>
              <a:t>DZP-Name</a:t>
            </a:r>
          </a:p>
          <a:p>
            <a:pPr marL="285750" indent="-285750">
              <a:buFontTx/>
              <a:buChar char="-"/>
            </a:pPr>
            <a:r>
              <a:rPr lang="de-CH" noProof="0" dirty="0"/>
              <a:t>NGDS-Name</a:t>
            </a:r>
          </a:p>
          <a:p>
            <a:pPr marL="285750" indent="-285750">
              <a:buFontTx/>
              <a:buChar char="-"/>
            </a:pPr>
            <a:r>
              <a:rPr lang="de-CH" noProof="0" dirty="0"/>
              <a:t>Numerische-Grundlagen-FS25</a:t>
            </a:r>
          </a:p>
          <a:p>
            <a:pPr marL="285750" indent="-285750">
              <a:buFontTx/>
              <a:buChar char="-"/>
            </a:pPr>
            <a:r>
              <a:rPr lang="de-CH" noProof="0" dirty="0"/>
              <a:t>.</a:t>
            </a:r>
            <a:r>
              <a:rPr lang="de-CH" noProof="0" dirty="0" err="1"/>
              <a:t>venv</a:t>
            </a:r>
            <a:endParaRPr lang="de-CH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7BE1C37-BD88-4E17-AAB9-5CFE514329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94" b="31124"/>
          <a:stretch>
            <a:fillRect/>
          </a:stretch>
        </p:blipFill>
        <p:spPr>
          <a:xfrm>
            <a:off x="5274019" y="1294278"/>
            <a:ext cx="6599223" cy="35578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7912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90738-9728-4BF7-AB9C-8F4FAF84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Fragen, Antworten und Feedback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0B6EE3-00F1-44AB-82A2-B7D2CC424C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0F4BB6-68D2-4C50-BDD2-45566D63D8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20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349647C-D0EE-4D67-B33B-E687D23A658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noProof="0" dirty="0"/>
              <a:t>GitHub Repository</a:t>
            </a:r>
          </a:p>
          <a:p>
            <a:pPr lvl="1"/>
            <a:r>
              <a:rPr lang="de-CH" b="1" noProof="0" dirty="0"/>
              <a:t>Star</a:t>
            </a:r>
            <a:br>
              <a:rPr lang="de-CH" noProof="0" dirty="0"/>
            </a:br>
            <a:r>
              <a:rPr lang="de-CH" noProof="0" dirty="0">
                <a:sym typeface="Wingdings" panose="05000000000000000000" pitchFamily="2" charset="2"/>
              </a:rPr>
              <a:t>  schnell finden</a:t>
            </a:r>
          </a:p>
          <a:p>
            <a:pPr lvl="1"/>
            <a:r>
              <a:rPr lang="de-CH" b="1" noProof="0" dirty="0">
                <a:sym typeface="Wingdings" panose="05000000000000000000" pitchFamily="2" charset="2"/>
              </a:rPr>
              <a:t>Watch</a:t>
            </a:r>
            <a:br>
              <a:rPr lang="de-CH" noProof="0" dirty="0">
                <a:sym typeface="Wingdings" panose="05000000000000000000" pitchFamily="2" charset="2"/>
              </a:rPr>
            </a:br>
            <a:r>
              <a:rPr lang="de-CH" noProof="0" dirty="0">
                <a:sym typeface="Wingdings" panose="05000000000000000000" pitchFamily="2" charset="2"/>
              </a:rPr>
              <a:t> Custom</a:t>
            </a:r>
            <a:br>
              <a:rPr lang="de-CH" noProof="0" dirty="0">
                <a:sym typeface="Wingdings" panose="05000000000000000000" pitchFamily="2" charset="2"/>
              </a:rPr>
            </a:br>
            <a:r>
              <a:rPr lang="de-CH" noProof="0" dirty="0">
                <a:sym typeface="Wingdings" panose="05000000000000000000" pitchFamily="2" charset="2"/>
              </a:rPr>
              <a:t> </a:t>
            </a:r>
            <a:r>
              <a:rPr lang="de-CH" noProof="0" dirty="0" err="1">
                <a:sym typeface="Wingdings" panose="05000000000000000000" pitchFamily="2" charset="2"/>
              </a:rPr>
              <a:t>Discussions</a:t>
            </a:r>
            <a:endParaRPr lang="de-CH" noProof="0" dirty="0"/>
          </a:p>
          <a:p>
            <a:endParaRPr lang="de-CH" noProof="0" dirty="0"/>
          </a:p>
          <a:p>
            <a:r>
              <a:rPr lang="de-CH" noProof="0" dirty="0"/>
              <a:t>Diskussionsforum</a:t>
            </a:r>
          </a:p>
          <a:p>
            <a:pPr lvl="1"/>
            <a:r>
              <a:rPr lang="de-CH" b="1" noProof="0" dirty="0"/>
              <a:t>Q&amp;A:</a:t>
            </a:r>
            <a:r>
              <a:rPr lang="de-CH" noProof="0" dirty="0"/>
              <a:t> </a:t>
            </a:r>
            <a:br>
              <a:rPr lang="de-CH" noProof="0" dirty="0"/>
            </a:br>
            <a:r>
              <a:rPr lang="de-CH" noProof="0" dirty="0"/>
              <a:t>Fragen stellen und </a:t>
            </a:r>
            <a:br>
              <a:rPr lang="de-CH" noProof="0" dirty="0"/>
            </a:br>
            <a:r>
              <a:rPr lang="de-CH" noProof="0" dirty="0"/>
              <a:t>Antworten geben</a:t>
            </a:r>
          </a:p>
          <a:p>
            <a:pPr lvl="1"/>
            <a:r>
              <a:rPr lang="de-CH" b="1" noProof="0" dirty="0" err="1"/>
              <a:t>Ideas</a:t>
            </a:r>
            <a:r>
              <a:rPr lang="de-CH" b="1" noProof="0" dirty="0"/>
              <a:t>:</a:t>
            </a:r>
            <a:r>
              <a:rPr lang="de-CH" noProof="0" dirty="0"/>
              <a:t> </a:t>
            </a:r>
            <a:br>
              <a:rPr lang="de-CH" noProof="0" dirty="0"/>
            </a:br>
            <a:r>
              <a:rPr lang="de-CH" noProof="0" dirty="0"/>
              <a:t>Vorschläge und Feedback</a:t>
            </a:r>
          </a:p>
          <a:p>
            <a:pPr lvl="1"/>
            <a:endParaRPr lang="de-CH" noProof="0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338B52DB-AA01-4234-AC28-740C4D655546}"/>
              </a:ext>
            </a:extLst>
          </p:cNvPr>
          <p:cNvGrpSpPr/>
          <p:nvPr/>
        </p:nvGrpSpPr>
        <p:grpSpPr>
          <a:xfrm>
            <a:off x="4157785" y="1382027"/>
            <a:ext cx="7713481" cy="3549481"/>
            <a:chOff x="4315097" y="1284335"/>
            <a:chExt cx="7611293" cy="3467779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42319B89-C7F0-4A14-9E76-E761FBEC7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5097" y="1284335"/>
              <a:ext cx="7611293" cy="346777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8737EF1-F747-430B-8FE2-7E171C2AEFF3}"/>
                </a:ext>
              </a:extLst>
            </p:cNvPr>
            <p:cNvSpPr/>
            <p:nvPr/>
          </p:nvSpPr>
          <p:spPr>
            <a:xfrm>
              <a:off x="6124703" y="1950720"/>
              <a:ext cx="661851" cy="322217"/>
            </a:xfrm>
            <a:prstGeom prst="rect">
              <a:avLst/>
            </a:prstGeom>
            <a:solidFill>
              <a:srgbClr val="FFFF00">
                <a:alpha val="18039"/>
              </a:srgbClr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de-CH" noProof="0" dirty="0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5E55617D-D804-49F6-BC60-ED9B3ACEAD20}"/>
                </a:ext>
              </a:extLst>
            </p:cNvPr>
            <p:cNvSpPr/>
            <p:nvPr/>
          </p:nvSpPr>
          <p:spPr>
            <a:xfrm>
              <a:off x="9540376" y="1654383"/>
              <a:ext cx="661851" cy="322217"/>
            </a:xfrm>
            <a:prstGeom prst="rect">
              <a:avLst/>
            </a:prstGeom>
            <a:solidFill>
              <a:srgbClr val="FFFF00">
                <a:alpha val="18039"/>
              </a:srgbClr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de-CH" noProof="0" dirty="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3B1D37AA-61E6-40C9-8C9F-6282A1107F24}"/>
                </a:ext>
              </a:extLst>
            </p:cNvPr>
            <p:cNvSpPr/>
            <p:nvPr/>
          </p:nvSpPr>
          <p:spPr>
            <a:xfrm>
              <a:off x="10980005" y="1654384"/>
              <a:ext cx="661851" cy="322217"/>
            </a:xfrm>
            <a:prstGeom prst="rect">
              <a:avLst/>
            </a:prstGeom>
            <a:solidFill>
              <a:srgbClr val="FFFF00">
                <a:alpha val="18039"/>
              </a:srgbClr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de-CH" noProof="0" dirty="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B4F00DA4-1C05-4900-A7A4-6893CBAD75E1}"/>
                </a:ext>
              </a:extLst>
            </p:cNvPr>
            <p:cNvSpPr/>
            <p:nvPr/>
          </p:nvSpPr>
          <p:spPr>
            <a:xfrm>
              <a:off x="9622385" y="3195232"/>
              <a:ext cx="1629245" cy="355756"/>
            </a:xfrm>
            <a:prstGeom prst="rect">
              <a:avLst/>
            </a:prstGeom>
            <a:solidFill>
              <a:srgbClr val="FFFF00">
                <a:alpha val="18039"/>
              </a:srgbClr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de-CH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692202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90738-9728-4BF7-AB9C-8F4FAF84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Arbeit mit Jupyter Notebooks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0B6EE3-00F1-44AB-82A2-B7D2CC424C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01 – Übersicht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0F4BB6-68D2-4C50-BDD2-45566D63D8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noProof="0" smtClean="0"/>
              <a:pPr/>
              <a:t>21</a:t>
            </a:fld>
            <a:endParaRPr lang="de-CH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349647C-D0EE-4D67-B33B-E687D23A658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de-CH" noProof="0" dirty="0"/>
              <a:t>Environment korrekt?</a:t>
            </a:r>
          </a:p>
          <a:p>
            <a:r>
              <a:rPr lang="de-CH" noProof="0" dirty="0"/>
              <a:t>Zellen</a:t>
            </a:r>
          </a:p>
          <a:p>
            <a:pPr lvl="1"/>
            <a:r>
              <a:rPr lang="de-CH" noProof="0" dirty="0"/>
              <a:t>Code (Python)</a:t>
            </a:r>
          </a:p>
          <a:p>
            <a:pPr lvl="1"/>
            <a:r>
              <a:rPr lang="de-CH" noProof="0" dirty="0" err="1"/>
              <a:t>Markdown</a:t>
            </a:r>
            <a:endParaRPr lang="de-CH" noProof="0" dirty="0"/>
          </a:p>
          <a:p>
            <a:r>
              <a:rPr lang="de-CH" noProof="0" dirty="0"/>
              <a:t>Ausführen</a:t>
            </a:r>
          </a:p>
          <a:p>
            <a:pPr lvl="1"/>
            <a:r>
              <a:rPr lang="de-CH" noProof="0" dirty="0" err="1"/>
              <a:t>Ctrl</a:t>
            </a:r>
            <a:r>
              <a:rPr lang="de-CH" noProof="0" dirty="0"/>
              <a:t> + Enter: ausführen</a:t>
            </a:r>
          </a:p>
          <a:p>
            <a:pPr lvl="1"/>
            <a:r>
              <a:rPr lang="de-CH" noProof="0" dirty="0"/>
              <a:t>Shift + Enter: ausführen &amp; weiter</a:t>
            </a:r>
          </a:p>
          <a:p>
            <a:pPr lvl="1"/>
            <a:r>
              <a:rPr lang="de-CH" noProof="0" dirty="0"/>
              <a:t>Alt + Enter: ausführen &amp; neue Zelle</a:t>
            </a:r>
          </a:p>
          <a:p>
            <a:r>
              <a:rPr lang="de-CH" noProof="0" dirty="0" err="1"/>
              <a:t>Markdown</a:t>
            </a:r>
            <a:r>
              <a:rPr lang="de-CH" noProof="0" dirty="0"/>
              <a:t> (Text)</a:t>
            </a:r>
          </a:p>
          <a:p>
            <a:pPr lvl="1"/>
            <a:r>
              <a:rPr lang="de-CH" noProof="0" dirty="0">
                <a:latin typeface="Consolas" panose="020B0609020204030204" pitchFamily="49" charset="0"/>
              </a:rPr>
              <a:t>*kursiv*, **fett**</a:t>
            </a:r>
          </a:p>
          <a:p>
            <a:pPr lvl="1"/>
            <a:r>
              <a:rPr lang="de-CH" noProof="0" dirty="0">
                <a:latin typeface="Consolas" panose="020B0609020204030204" pitchFamily="49" charset="0"/>
              </a:rPr>
              <a:t>- Aufzählung</a:t>
            </a:r>
          </a:p>
          <a:p>
            <a:pPr lvl="1"/>
            <a:r>
              <a:rPr lang="de-CH" noProof="0" dirty="0">
                <a:latin typeface="Consolas" panose="020B0609020204030204" pitchFamily="49" charset="0"/>
              </a:rPr>
              <a:t>$</a:t>
            </a:r>
            <a:r>
              <a:rPr lang="de-CH" noProof="0" dirty="0" err="1">
                <a:latin typeface="Consolas" panose="020B0609020204030204" pitchFamily="49" charset="0"/>
              </a:rPr>
              <a:t>math</a:t>
            </a:r>
            <a:r>
              <a:rPr lang="de-CH" noProof="0" dirty="0">
                <a:latin typeface="Consolas" panose="020B0609020204030204" pitchFamily="49" charset="0"/>
              </a:rPr>
              <a:t>$ </a:t>
            </a:r>
            <a:r>
              <a:rPr lang="de-CH" noProof="0" dirty="0"/>
              <a:t>(</a:t>
            </a:r>
            <a:r>
              <a:rPr lang="de-CH" noProof="0" dirty="0" err="1"/>
              <a:t>LaTeX</a:t>
            </a:r>
            <a:r>
              <a:rPr lang="de-CH" noProof="0" dirty="0"/>
              <a:t>)</a:t>
            </a:r>
          </a:p>
          <a:p>
            <a:pPr lvl="1"/>
            <a:r>
              <a:rPr lang="de-CH" noProof="0" dirty="0">
                <a:latin typeface="Consolas" panose="020B0609020204030204" pitchFamily="49" charset="0"/>
              </a:rPr>
              <a:t># Titel 1</a:t>
            </a:r>
          </a:p>
          <a:p>
            <a:pPr lvl="1"/>
            <a:r>
              <a:rPr lang="de-CH" noProof="0" dirty="0">
                <a:latin typeface="Consolas" panose="020B0609020204030204" pitchFamily="49" charset="0"/>
              </a:rPr>
              <a:t>## Titel 2</a:t>
            </a:r>
          </a:p>
          <a:p>
            <a:pPr lvl="1"/>
            <a:r>
              <a:rPr lang="de-CH" noProof="0" dirty="0">
                <a:latin typeface="Consolas" panose="020B0609020204030204" pitchFamily="49" charset="0"/>
              </a:rPr>
              <a:t>### Titel 3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88CF75F-119A-45E8-9E36-1938B7AF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169" y="1236132"/>
            <a:ext cx="6756097" cy="3906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42EF1F3D-7649-49DD-BA3E-670AF1598E1D}"/>
              </a:ext>
            </a:extLst>
          </p:cNvPr>
          <p:cNvSpPr/>
          <p:nvPr/>
        </p:nvSpPr>
        <p:spPr>
          <a:xfrm>
            <a:off x="10879795" y="1621692"/>
            <a:ext cx="991471" cy="273539"/>
          </a:xfrm>
          <a:prstGeom prst="rect">
            <a:avLst/>
          </a:prstGeom>
          <a:solidFill>
            <a:srgbClr val="FFFF00">
              <a:alpha val="18039"/>
            </a:srgbClr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1001250-0BAA-43AD-816E-9214F058AB99}"/>
              </a:ext>
            </a:extLst>
          </p:cNvPr>
          <p:cNvSpPr/>
          <p:nvPr/>
        </p:nvSpPr>
        <p:spPr>
          <a:xfrm>
            <a:off x="6936446" y="1621692"/>
            <a:ext cx="1054785" cy="273539"/>
          </a:xfrm>
          <a:prstGeom prst="rect">
            <a:avLst/>
          </a:prstGeom>
          <a:solidFill>
            <a:srgbClr val="FFFF00">
              <a:alpha val="18039"/>
            </a:srgbClr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882128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Kreis, Schwarz, Stern, Astronomie enthält.&#10;&#10;KI-generierte Inhalte können fehlerhaft sein.">
            <a:extLst>
              <a:ext uri="{FF2B5EF4-FFF2-40B4-BE49-F238E27FC236}">
                <a16:creationId xmlns:a16="http://schemas.microsoft.com/office/drawing/2014/main" id="{CCF2B464-5AB9-8766-64AB-D0AE8AD1A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853" y="811923"/>
            <a:ext cx="1930445" cy="1930445"/>
          </a:xfrm>
          <a:prstGeom prst="rect">
            <a:avLst/>
          </a:prstGeom>
        </p:spPr>
      </p:pic>
      <p:pic>
        <p:nvPicPr>
          <p:cNvPr id="7" name="Grafik 6" descr="Ein Bild, das Schwarz, Kreis, Screenshot, Schwarzweiß enthält.&#10;&#10;KI-generierte Inhalte können fehlerhaft sein.">
            <a:extLst>
              <a:ext uri="{FF2B5EF4-FFF2-40B4-BE49-F238E27FC236}">
                <a16:creationId xmlns:a16="http://schemas.microsoft.com/office/drawing/2014/main" id="{2D99C864-9892-3EF1-55C0-5832A23F6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775" y="827743"/>
            <a:ext cx="1930445" cy="1930445"/>
          </a:xfrm>
          <a:prstGeom prst="rect">
            <a:avLst/>
          </a:prstGeom>
        </p:spPr>
      </p:pic>
      <p:pic>
        <p:nvPicPr>
          <p:cNvPr id="6" name="Grafik 5" descr="Ein Bild, das Kreis, Schwarz, Stern, Astronomie enthält.&#10;&#10;KI-generierte Inhalte können fehlerhaft sein.">
            <a:extLst>
              <a:ext uri="{FF2B5EF4-FFF2-40B4-BE49-F238E27FC236}">
                <a16:creationId xmlns:a16="http://schemas.microsoft.com/office/drawing/2014/main" id="{BDB05B86-3F19-2DC0-3B17-5C7942FA3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537" y="827743"/>
            <a:ext cx="1914625" cy="191462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C4F4F984-4D5F-564D-C23D-BE8DD787CEA4}"/>
              </a:ext>
            </a:extLst>
          </p:cNvPr>
          <p:cNvSpPr txBox="1"/>
          <p:nvPr/>
        </p:nvSpPr>
        <p:spPr>
          <a:xfrm>
            <a:off x="1113348" y="3015821"/>
            <a:ext cx="9965301" cy="327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Wo nicht anders genannt, steht dieses Werk unter der Lizenz CC BY-SA 4.0, https://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creativecommons.org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licenses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by-sa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/4.0/, Lukas Hollenstein / ZHAW, ICLS Institute 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 Computational Life Sciences (2025)</a:t>
            </a:r>
          </a:p>
          <a:p>
            <a:pPr algn="ctr">
              <a:lnSpc>
                <a:spcPts val="2500"/>
              </a:lnSpc>
            </a:pPr>
            <a:endParaRPr lang="de-CH" noProof="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Die Marke ZHAW ist von der vorliegenden Lizenz CC BY-SA 4.0,​</a:t>
            </a: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creativecommons.org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licenses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by-sa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/4.0/, unberührt. Gemäss Abschnitt 2.b.2 der Lizenz werden Patent- und Kennzeichenrechte durch die vorliegende Public License nicht lizenziert.</a:t>
            </a:r>
          </a:p>
          <a:p>
            <a:pPr algn="ctr">
              <a:lnSpc>
                <a:spcPts val="2500"/>
              </a:lnSpc>
            </a:pPr>
            <a:endParaRPr lang="de-CH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Die erkennbaren Personen haben sich schriftlich mit der Nutzung zu Lern- und Lehrzwecken und der Veröffentlichung unter der vorliegenden Lizenz einverstanden erklärt.​</a:t>
            </a:r>
            <a:r>
              <a:rPr lang="de-CH" noProof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B85D2C-64FE-2692-5748-F97A561A01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426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noProof="0" smtClean="0"/>
              <a:pPr/>
              <a:t>22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4235487789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ICLS">
  <a:themeElements>
    <a:clrScheme name="ADLS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2EAF9B"/>
      </a:accent1>
      <a:accent2>
        <a:srgbClr val="B35F5F"/>
      </a:accent2>
      <a:accent3>
        <a:srgbClr val="4593D3"/>
      </a:accent3>
      <a:accent4>
        <a:srgbClr val="0064A6"/>
      </a:accent4>
      <a:accent5>
        <a:srgbClr val="7E93A7"/>
      </a:accent5>
      <a:accent6>
        <a:srgbClr val="A05EBA"/>
      </a:accent6>
      <a:hlink>
        <a:srgbClr val="009999"/>
      </a:hlink>
      <a:folHlink>
        <a:srgbClr val="99CC00"/>
      </a:folHlink>
    </a:clrScheme>
    <a:fontScheme name="Arial Rounded - Arial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rstes-Treffen-20230209_2.pptx" id="{EB71FD50-E6FC-4E87-B8A9-489C6D623BE5}" vid="{F134041A-2A52-474D-9031-9053EBEE32A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DF5472B98498441B4A1BAC358ABA960" ma:contentTypeVersion="17" ma:contentTypeDescription="Ein neues Dokument erstellen." ma:contentTypeScope="" ma:versionID="36a717fb42dc34690412ceb807c86fd3">
  <xsd:schema xmlns:xsd="http://www.w3.org/2001/XMLSchema" xmlns:xs="http://www.w3.org/2001/XMLSchema" xmlns:p="http://schemas.microsoft.com/office/2006/metadata/properties" xmlns:ns2="669cc249-ff44-44bd-9245-9acaabead0fc" xmlns:ns3="68628b2f-7e15-4bb9-b45d-9b408bd3f434" xmlns:ns4="a93a847e-07ec-43eb-a88c-b18616081de6" targetNamespace="http://schemas.microsoft.com/office/2006/metadata/properties" ma:root="true" ma:fieldsID="ae743aa89e72b03c3906dc9cc64e335e" ns2:_="" ns3:_="" ns4:_="">
    <xsd:import namespace="669cc249-ff44-44bd-9245-9acaabead0fc"/>
    <xsd:import namespace="68628b2f-7e15-4bb9-b45d-9b408bd3f434"/>
    <xsd:import namespace="a93a847e-07ec-43eb-a88c-b18616081d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4:SharedWithUsers" minOccurs="0"/>
                <xsd:element ref="ns4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cc249-ff44-44bd-9245-9acaabead0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19e3ed14-352d-4aa2-a63b-0b06d7ab5f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628b2f-7e15-4bb9-b45d-9b408bd3f43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b3fef38-8b2c-4616-b252-96f984329c4a}" ma:internalName="TaxCatchAll" ma:showField="CatchAllData" ma:web="a93a847e-07ec-43eb-a88c-b18616081d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3a847e-07ec-43eb-a88c-b18616081de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9cc249-ff44-44bd-9245-9acaabead0fc">
      <Terms xmlns="http://schemas.microsoft.com/office/infopath/2007/PartnerControls"/>
    </lcf76f155ced4ddcb4097134ff3c332f>
    <TaxCatchAll xmlns="68628b2f-7e15-4bb9-b45d-9b408bd3f434" xsi:nil="true"/>
  </documentManagement>
</p:properties>
</file>

<file path=customXml/itemProps1.xml><?xml version="1.0" encoding="utf-8"?>
<ds:datastoreItem xmlns:ds="http://schemas.openxmlformats.org/officeDocument/2006/customXml" ds:itemID="{686CF15C-D95C-44C7-B312-F391FDA979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330F7B-DCF3-4E46-BDDE-3176CFBD3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cc249-ff44-44bd-9245-9acaabead0fc"/>
    <ds:schemaRef ds:uri="68628b2f-7e15-4bb9-b45d-9b408bd3f434"/>
    <ds:schemaRef ds:uri="a93a847e-07ec-43eb-a88c-b18616081d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691F3E0-F3F9-40EA-86AD-630996158F76}">
  <ds:schemaRefs>
    <ds:schemaRef ds:uri="a93a847e-07ec-43eb-a88c-b18616081de6"/>
    <ds:schemaRef ds:uri="68628b2f-7e15-4bb9-b45d-9b408bd3f434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669cc249-ff44-44bd-9245-9acaabead0fc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ADLS-Vorlage</Template>
  <TotalTime>0</TotalTime>
  <Words>983</Words>
  <Application>Microsoft Macintosh PowerPoint</Application>
  <PresentationFormat>Breitbild</PresentationFormat>
  <Paragraphs>276</Paragraphs>
  <Slides>22</Slides>
  <Notes>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9" baseType="lpstr">
      <vt:lpstr>Arial Unicode MS</vt:lpstr>
      <vt:lpstr>Arial</vt:lpstr>
      <vt:lpstr>Arial Rounded MT Bold</vt:lpstr>
      <vt:lpstr>Calibri</vt:lpstr>
      <vt:lpstr>Consolas</vt:lpstr>
      <vt:lpstr>Wingdings</vt:lpstr>
      <vt:lpstr>Master ICLS</vt:lpstr>
      <vt:lpstr>01 – Übersicht</vt:lpstr>
      <vt:lpstr>Inhalt</vt:lpstr>
      <vt:lpstr>Vorstellung: Lukas Hollenstein</vt:lpstr>
      <vt:lpstr>Vorstellung: Cornelia Hofmann</vt:lpstr>
      <vt:lpstr>Lernziele</vt:lpstr>
      <vt:lpstr>Themenübersicht</vt:lpstr>
      <vt:lpstr>Themenübersicht</vt:lpstr>
      <vt:lpstr>Themenübersicht</vt:lpstr>
      <vt:lpstr>Themenübersicht</vt:lpstr>
      <vt:lpstr>Themenübersicht</vt:lpstr>
      <vt:lpstr>Themenübersicht</vt:lpstr>
      <vt:lpstr>Themenübersicht</vt:lpstr>
      <vt:lpstr>Semesterplan (auch auf Moodle)</vt:lpstr>
      <vt:lpstr>Didaktisches Konzept</vt:lpstr>
      <vt:lpstr>Lernzyklus (auch auf Moodle)</vt:lpstr>
      <vt:lpstr>Leistungsnachweise</vt:lpstr>
      <vt:lpstr>Material und Arbeitsumgebung</vt:lpstr>
      <vt:lpstr>Workflow</vt:lpstr>
      <vt:lpstr>Lokale Ordner</vt:lpstr>
      <vt:lpstr>Fragen, Antworten und Feedback</vt:lpstr>
      <vt:lpstr>Arbeit mit Jupyter Notebooks</vt:lpstr>
      <vt:lpstr>PowerPoint-Präsentation</vt:lpstr>
    </vt:vector>
  </TitlesOfParts>
  <Manager/>
  <Company>ZHAW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NGDS - Übersicht</dc:title>
  <dc:subject/>
  <dc:creator>Hollenstein Lukas (hols)</dc:creator>
  <cp:keywords/>
  <dc:description/>
  <cp:lastModifiedBy>Hollenstein Lukas (hols)</cp:lastModifiedBy>
  <cp:revision>21</cp:revision>
  <cp:lastPrinted>2022-09-20T23:08:52Z</cp:lastPrinted>
  <dcterms:created xsi:type="dcterms:W3CDTF">2023-02-09T07:10:31Z</dcterms:created>
  <dcterms:modified xsi:type="dcterms:W3CDTF">2026-02-19T15:27:56Z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2022-02-18T10:36:19Z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61ec20a6-2549-4ef5-b04e-e875a911c5c4</vt:lpwstr>
  </property>
  <property fmtid="{D5CDD505-2E9C-101B-9397-08002B2CF9AE}" pid="8" name="MSIP_Label_10d9bad3-6dac-4e9a-89a3-89f3b8d247b2_ContentBits">
    <vt:lpwstr>0</vt:lpwstr>
  </property>
  <property fmtid="{D5CDD505-2E9C-101B-9397-08002B2CF9AE}" pid="9" name="ContentTypeId">
    <vt:lpwstr>0x0101000DF5472B98498441B4A1BAC358ABA960</vt:lpwstr>
  </property>
  <property fmtid="{D5CDD505-2E9C-101B-9397-08002B2CF9AE}" pid="10" name="MediaServiceImageTags">
    <vt:lpwstr/>
  </property>
</Properties>
</file>