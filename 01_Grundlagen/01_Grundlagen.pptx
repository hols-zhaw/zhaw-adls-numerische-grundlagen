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sldIdLst>
    <p:sldId id="464" r:id="rId5"/>
    <p:sldId id="456" r:id="rId6"/>
    <p:sldId id="466" r:id="rId7"/>
    <p:sldId id="465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321" r:id="rId16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AAB4"/>
    <a:srgbClr val="0064A7"/>
    <a:srgbClr val="0064A6"/>
    <a:srgbClr val="7E93A7"/>
    <a:srgbClr val="FFFFFF"/>
    <a:srgbClr val="E2F0D9"/>
    <a:srgbClr val="C5E0B4"/>
    <a:srgbClr val="FF0000"/>
    <a:srgbClr val="7FA5D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42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C4DB9DB-6345-4FBB-AF46-CB02900B33DA}" type="datetimeFigureOut">
              <a:rPr lang="de-CH" smtClean="0"/>
              <a:t>27.01.26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EB89508-1F08-41D4-B550-010BC32CFC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977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Lizenz des Werkes</a:t>
            </a:r>
          </a:p>
          <a:p>
            <a:r>
              <a:rPr lang="de-CH"/>
              <a:t>ggf. Disclaimer zu Marken </a:t>
            </a:r>
          </a:p>
          <a:p>
            <a:r>
              <a:rPr lang="de-CH"/>
              <a:t>ggf. Einverständnis abgebildete Personen</a:t>
            </a:r>
          </a:p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7BD64-7B66-4468-84E1-5643791D6B2B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60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Grundlagen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103B155-CF82-ECE2-A7B0-9AC641885C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6B64B461-364C-4EE1-97F4-F0917D12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76450" y="1508759"/>
            <a:ext cx="80391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CH" noProof="0"/>
              <a:t>Titelmasterformat durch Klicken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55E6F6E-15A8-410A-A8B6-C021973A07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6450" y="4024785"/>
            <a:ext cx="80391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noProof="0"/>
              <a:t>Formatvorlage des Untertitelmasters 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54B671C-F384-A811-3A99-E105DE9487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25"/>
          <a:stretch>
            <a:fillRect/>
          </a:stretch>
        </p:blipFill>
        <p:spPr>
          <a:xfrm>
            <a:off x="139700" y="139700"/>
            <a:ext cx="1192144" cy="11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DL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C59F372C-25F5-67AF-B071-13D562B51B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7AD1867-6DC9-4839-B89D-91D3499253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14"/>
          <a:stretch>
            <a:fillRect/>
          </a:stretch>
        </p:blipFill>
        <p:spPr>
          <a:xfrm>
            <a:off x="139699" y="139700"/>
            <a:ext cx="1182205" cy="1170634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DADD74B-33F6-EBF5-8D01-400B636DE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3035" y="1450034"/>
            <a:ext cx="80391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CH" noProof="0"/>
              <a:t>Titelmasterformat durch Klicken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B08302B2-9A64-9785-4428-3EEDC011E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33035" y="3929709"/>
            <a:ext cx="80391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noProof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31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426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426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4A6038F-352F-4BD4-B698-C425DD1AE7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2884" y="1236132"/>
            <a:ext cx="11181080" cy="50704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771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811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811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4A6038F-352F-4BD4-B698-C425DD1AE7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3201" y="1236132"/>
            <a:ext cx="5518680" cy="50704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4FDA00-1214-437B-81E5-A1AAEF54BA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5284" y="1236132"/>
            <a:ext cx="5518680" cy="50704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95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3844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3844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903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811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811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8979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395F99-6153-C27E-C2F8-B774635992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DA513A-EF0F-4676-BFB8-06DF099B32F2}" type="slidenum">
              <a:rPr lang="de-CH" smtClean="0"/>
              <a:t>‹Nr.›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38F756-697B-7018-29B6-F66509D315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351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8217C72-0C11-4133-A324-9FBA4A33FE1A}"/>
              </a:ext>
            </a:extLst>
          </p:cNvPr>
          <p:cNvSpPr/>
          <p:nvPr userDrawn="1"/>
        </p:nvSpPr>
        <p:spPr>
          <a:xfrm>
            <a:off x="-1" y="339327"/>
            <a:ext cx="3960000" cy="1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930D5A5-CFA5-4771-A6F7-D939A6E7C46D}"/>
              </a:ext>
            </a:extLst>
          </p:cNvPr>
          <p:cNvSpPr/>
          <p:nvPr userDrawn="1"/>
        </p:nvSpPr>
        <p:spPr>
          <a:xfrm rot="10800000">
            <a:off x="8232000" y="6480001"/>
            <a:ext cx="3960000" cy="1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platzhalter 7">
            <a:extLst>
              <a:ext uri="{FF2B5EF4-FFF2-40B4-BE49-F238E27FC236}">
                <a16:creationId xmlns:a16="http://schemas.microsoft.com/office/drawing/2014/main" id="{8B76D7F8-94A6-46E8-A1F4-6CDBF0FF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606811"/>
            <a:ext cx="11181080" cy="428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300C3AF-4D4A-44C1-A3A8-28215E2A5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83137" y="6494811"/>
            <a:ext cx="306739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endParaRPr lang="de-CH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FF36415-9179-4C8A-8B79-79F1D64F3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534" y="6494811"/>
            <a:ext cx="64146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A1A64E5A-BB97-465C-9E2D-A4F032C778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93"/>
          <a:stretch/>
        </p:blipFill>
        <p:spPr>
          <a:xfrm>
            <a:off x="11475724" y="87997"/>
            <a:ext cx="628640" cy="668899"/>
          </a:xfrm>
          <a:prstGeom prst="rect">
            <a:avLst/>
          </a:prstGeom>
        </p:spPr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9D28FD5-BFA3-4B2C-8042-9525A744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1" y="1236132"/>
            <a:ext cx="11181080" cy="5070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D87B312-A562-4B54-9BFF-F4DC1FB21012}"/>
              </a:ext>
            </a:extLst>
          </p:cNvPr>
          <p:cNvSpPr txBox="1"/>
          <p:nvPr userDrawn="1"/>
        </p:nvSpPr>
        <p:spPr>
          <a:xfrm>
            <a:off x="209156" y="0"/>
            <a:ext cx="3605078" cy="3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de-CH" sz="1400" kern="1200" noProof="0" dirty="0">
                <a:solidFill>
                  <a:schemeClr val="accent5"/>
                </a:solidFill>
                <a:latin typeface="+mj-lt"/>
                <a:ea typeface="+mn-ea"/>
                <a:cs typeface="+mn-cs"/>
              </a:rPr>
              <a:t>ICLS | ADLS </a:t>
            </a:r>
            <a:r>
              <a:rPr lang="de-CH" sz="1400" kern="1200" baseline="0" noProof="0" dirty="0">
                <a:solidFill>
                  <a:schemeClr val="accent5"/>
                </a:solidFill>
                <a:latin typeface="+mj-lt"/>
                <a:ea typeface="+mn-ea"/>
                <a:cs typeface="+mn-cs"/>
              </a:rPr>
              <a:t>|</a:t>
            </a:r>
            <a:r>
              <a:rPr lang="de-CH" sz="1400" kern="1200" baseline="0" noProof="0" dirty="0">
                <a:solidFill>
                  <a:schemeClr val="accent4"/>
                </a:solidFill>
                <a:latin typeface="+mj-lt"/>
                <a:ea typeface="+mn-ea"/>
                <a:cs typeface="+mn-cs"/>
              </a:rPr>
              <a:t> NGDS</a:t>
            </a:r>
            <a:endParaRPr lang="de-CH" sz="1400" kern="1200" noProof="0" dirty="0">
              <a:solidFill>
                <a:schemeClr val="accent4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90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3" r:id="rId3"/>
    <p:sldLayoutId id="2147483675" r:id="rId4"/>
    <p:sldLayoutId id="2147483674" r:id="rId5"/>
    <p:sldLayoutId id="2147483676" r:id="rId6"/>
    <p:sldLayoutId id="214748367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eretter.de/rechner/dezimalbinar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eretter.de/rechner/dezimalbinar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A9FA5E-2A78-48AA-83BB-80CD30368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2400" y="1450800"/>
            <a:ext cx="8039100" cy="2387600"/>
          </a:xfrm>
        </p:spPr>
        <p:txBody>
          <a:bodyPr/>
          <a:lstStyle/>
          <a:p>
            <a:r>
              <a:rPr lang="de-CH" dirty="0"/>
              <a:t>0</a:t>
            </a:r>
            <a:r>
              <a:rPr lang="de-CH" dirty="0">
                <a:solidFill>
                  <a:schemeClr val="bg1"/>
                </a:solidFill>
              </a:rPr>
              <a:t>1 – Grundlagen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43900119-A935-4C72-B786-22F16F128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2400" y="3931200"/>
            <a:ext cx="8039100" cy="1655762"/>
          </a:xfrm>
        </p:spPr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Numerische Grundlagen der Data Science</a:t>
            </a:r>
          </a:p>
          <a:p>
            <a:r>
              <a:rPr lang="de-CH" dirty="0"/>
              <a:t>Lukas Hollenstein</a:t>
            </a:r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31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1B3EE3-8C22-4E40-91A6-4A6D14C2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606811"/>
            <a:ext cx="11181080" cy="428433"/>
          </a:xfrm>
        </p:spPr>
        <p:txBody>
          <a:bodyPr/>
          <a:lstStyle/>
          <a:p>
            <a:r>
              <a:rPr lang="de-CH" dirty="0"/>
              <a:t>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5AEB30-EBFA-475F-8138-8ED61358FD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426"/>
            <a:ext cx="3067395" cy="360000"/>
          </a:xfrm>
        </p:spPr>
        <p:txBody>
          <a:bodyPr/>
          <a:lstStyle/>
          <a:p>
            <a:r>
              <a:rPr lang="de-CH" dirty="0"/>
              <a:t>01 –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375B39-0E29-4699-A00F-D205E8C601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426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2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30627C0-157B-4A61-A84B-D49705C48C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2884" y="1236132"/>
            <a:ext cx="11181080" cy="5070465"/>
          </a:xfrm>
        </p:spPr>
        <p:txBody>
          <a:bodyPr/>
          <a:lstStyle/>
          <a:p>
            <a:r>
              <a:rPr lang="de-CH" dirty="0"/>
              <a:t>Kontinuierlich, Diskret, Iterativ</a:t>
            </a:r>
          </a:p>
          <a:p>
            <a:pPr lvl="1"/>
            <a:r>
              <a:rPr lang="de-DE" dirty="0"/>
              <a:t>kontinuierliche und diskrete Funktionen, Folgen und iterative Prozesse</a:t>
            </a:r>
            <a:endParaRPr lang="de-CH" dirty="0"/>
          </a:p>
          <a:p>
            <a:r>
              <a:rPr lang="de-CH" dirty="0"/>
              <a:t>Zahlendarstellung im Computer</a:t>
            </a:r>
          </a:p>
          <a:p>
            <a:pPr lvl="1"/>
            <a:r>
              <a:rPr lang="de-CH" dirty="0"/>
              <a:t>Dezimal-, Binär- und Gleitkommadarstellung</a:t>
            </a:r>
          </a:p>
          <a:p>
            <a:r>
              <a:rPr lang="de-CH" dirty="0"/>
              <a:t>Fehlertypen</a:t>
            </a:r>
          </a:p>
          <a:p>
            <a:pPr lvl="1"/>
            <a:r>
              <a:rPr lang="de-DE" dirty="0"/>
              <a:t>Darstellungs-, Rechen-, </a:t>
            </a:r>
            <a:r>
              <a:rPr lang="de-DE" dirty="0" err="1"/>
              <a:t>Diskretisierungs</a:t>
            </a:r>
            <a:r>
              <a:rPr lang="de-DE" dirty="0"/>
              <a:t>- und Messfehler</a:t>
            </a:r>
          </a:p>
        </p:txBody>
      </p:sp>
    </p:spTree>
    <p:extLst>
      <p:ext uri="{BB962C8B-B14F-4D97-AF65-F5344CB8AC3E}">
        <p14:creationId xmlns:p14="http://schemas.microsoft.com/office/powerpoint/2010/main" val="64638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3B363DDC-EFE7-A7CE-E4C5-6049C1AE1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035" y="1450033"/>
            <a:ext cx="8039100" cy="4135437"/>
          </a:xfrm>
        </p:spPr>
        <p:txBody>
          <a:bodyPr anchor="ctr"/>
          <a:lstStyle/>
          <a:p>
            <a:r>
              <a:rPr lang="de-CH" dirty="0"/>
              <a:t>Kontinuierlich</a:t>
            </a:r>
            <a:br>
              <a:rPr lang="de-CH" dirty="0"/>
            </a:br>
            <a:r>
              <a:rPr lang="de-CH" dirty="0"/>
              <a:t>Diskret</a:t>
            </a:r>
            <a:br>
              <a:rPr lang="de-CH" dirty="0"/>
            </a:br>
            <a:r>
              <a:rPr lang="de-CH" dirty="0"/>
              <a:t>Iterativ</a:t>
            </a:r>
          </a:p>
        </p:txBody>
      </p:sp>
    </p:spTree>
    <p:extLst>
      <p:ext uri="{BB962C8B-B14F-4D97-AF65-F5344CB8AC3E}">
        <p14:creationId xmlns:p14="http://schemas.microsoft.com/office/powerpoint/2010/main" val="220690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8FCCBD8-7307-A071-9054-7BA4A0FCD6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CH" dirty="0"/>
                  <a:t>Kontinuierliche Funktionen  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de-CH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8FCCBD8-7307-A071-9054-7BA4A0FCD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090" t="-31429" b="-4571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ED0FB9-4C4A-2110-BA85-E38D2BC3C2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2D8144-EE1E-7534-3D93-EA32E9E1C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4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F9245C8-1D3C-93FB-3941-38A3D8DEE26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dirty="0"/>
              <a:t>Kontinuierlich heisst </a:t>
            </a:r>
            <a:r>
              <a:rPr lang="de-CH" b="1" dirty="0"/>
              <a:t>stetig</a:t>
            </a:r>
            <a:br>
              <a:rPr lang="de-CH" b="1" dirty="0"/>
            </a:br>
            <a:r>
              <a:rPr lang="de-CH" dirty="0"/>
              <a:t>also </a:t>
            </a:r>
            <a:r>
              <a:rPr lang="de-CH" b="1" dirty="0"/>
              <a:t>keine Sprünge</a:t>
            </a:r>
            <a:endParaRPr lang="de-CH" dirty="0"/>
          </a:p>
          <a:p>
            <a:r>
              <a:rPr lang="de-CH" dirty="0"/>
              <a:t>Beispiele</a:t>
            </a:r>
          </a:p>
          <a:p>
            <a:pPr lvl="1"/>
            <a:r>
              <a:rPr lang="de-CH" dirty="0"/>
              <a:t>Zeit</a:t>
            </a:r>
          </a:p>
          <a:p>
            <a:pPr lvl="1"/>
            <a:r>
              <a:rPr lang="de-CH" dirty="0"/>
              <a:t>Temperatur einer Flüssigkeit</a:t>
            </a:r>
          </a:p>
          <a:p>
            <a:pPr lvl="1"/>
            <a:r>
              <a:rPr lang="de-CH" dirty="0"/>
              <a:t>Stoffkonzentration einer Lösung</a:t>
            </a:r>
          </a:p>
          <a:p>
            <a:pPr lvl="1"/>
            <a:r>
              <a:rPr lang="de-CH" dirty="0"/>
              <a:t>Spannung einer Batterie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039DFD0-75F7-BA4C-039A-4796D7E33EA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924550" y="1585913"/>
            <a:ext cx="5400675" cy="4371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052A7AD-F7FF-A884-60A2-4DA505DD6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284" y="4384818"/>
            <a:ext cx="3094117" cy="1866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522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8FCCBD8-7307-A071-9054-7BA4A0FCD6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CH" dirty="0"/>
                  <a:t>Diskrete Funktionen  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C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de-CH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8FCCBD8-7307-A071-9054-7BA4A0FCD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090" t="-31429" b="-4571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ED0FB9-4C4A-2110-BA85-E38D2BC3C2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2D8144-EE1E-7534-3D93-EA32E9E1C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5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F9245C8-1D3C-93FB-3941-38A3D8DEE26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dirty="0"/>
              <a:t>Die Funktionswerte nehmen nur </a:t>
            </a:r>
            <a:r>
              <a:rPr lang="de-CH" b="1" dirty="0"/>
              <a:t>spezifische Werte</a:t>
            </a:r>
            <a:r>
              <a:rPr lang="de-CH" dirty="0"/>
              <a:t> an.</a:t>
            </a:r>
          </a:p>
          <a:p>
            <a:r>
              <a:rPr lang="de-CH" dirty="0"/>
              <a:t>Beispiele</a:t>
            </a:r>
          </a:p>
          <a:p>
            <a:pPr lvl="1"/>
            <a:r>
              <a:rPr lang="de-CH" dirty="0"/>
              <a:t>Anzahl Bäume in einem Waldstück</a:t>
            </a:r>
          </a:p>
          <a:p>
            <a:pPr lvl="1"/>
            <a:r>
              <a:rPr lang="de-CH" dirty="0"/>
              <a:t>Anzahl Blutprobenröhrchen in einer Warteschlange vor einem Analysegerät</a:t>
            </a:r>
          </a:p>
          <a:p>
            <a:pPr lvl="1"/>
            <a:r>
              <a:rPr lang="de-CH" dirty="0"/>
              <a:t>Zustand des Analysegeräts</a:t>
            </a:r>
            <a:br>
              <a:rPr lang="de-CH" dirty="0"/>
            </a:br>
            <a:r>
              <a:rPr lang="de-CH" dirty="0"/>
              <a:t>(0=</a:t>
            </a:r>
            <a:r>
              <a:rPr lang="de-CH" dirty="0" err="1"/>
              <a:t>idle</a:t>
            </a:r>
            <a:r>
              <a:rPr lang="de-CH" dirty="0"/>
              <a:t>, 1=</a:t>
            </a:r>
            <a:r>
              <a:rPr lang="de-CH" dirty="0" err="1"/>
              <a:t>busy</a:t>
            </a:r>
            <a:r>
              <a:rPr lang="de-CH" dirty="0"/>
              <a:t>, 2=</a:t>
            </a:r>
            <a:r>
              <a:rPr lang="de-CH" dirty="0" err="1"/>
              <a:t>blocked</a:t>
            </a:r>
            <a:r>
              <a:rPr lang="de-CH" dirty="0"/>
              <a:t>)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039DFD0-75F7-BA4C-039A-4796D7E33EA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4550" y="1585913"/>
            <a:ext cx="5400675" cy="4371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052A7AD-F7FF-A884-60A2-4DA505DD6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956" y="4377479"/>
            <a:ext cx="4727507" cy="2035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876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8FCCBD8-7307-A071-9054-7BA4A0FCD6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CH" dirty="0"/>
                  <a:t>Iterative Prozesse (Folgen)  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de-CH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8FCCBD8-7307-A071-9054-7BA4A0FCD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090" t="-31429" b="-4571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ED0FB9-4C4A-2110-BA85-E38D2BC3C2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2D8144-EE1E-7534-3D93-EA32E9E1C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6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F9245C8-1D3C-93FB-3941-38A3D8DEE2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3201" y="1236132"/>
            <a:ext cx="6105320" cy="5070465"/>
          </a:xfrm>
        </p:spPr>
        <p:txBody>
          <a:bodyPr/>
          <a:lstStyle/>
          <a:p>
            <a:r>
              <a:rPr lang="de-CH" dirty="0"/>
              <a:t>Die </a:t>
            </a:r>
            <a:r>
              <a:rPr lang="de-CH" b="1" dirty="0"/>
              <a:t>«Zeitschritte» sind diskret</a:t>
            </a:r>
            <a:r>
              <a:rPr lang="de-CH" dirty="0"/>
              <a:t>, die Folgenwerte können kontinuierlich sein.</a:t>
            </a:r>
          </a:p>
          <a:p>
            <a:r>
              <a:rPr lang="de-CH" dirty="0"/>
              <a:t>Beispiele</a:t>
            </a:r>
          </a:p>
          <a:p>
            <a:pPr lvl="1"/>
            <a:r>
              <a:rPr lang="de-CH" dirty="0"/>
              <a:t>Näherungs- / Optimierungsverfahren</a:t>
            </a:r>
          </a:p>
          <a:p>
            <a:pPr lvl="2"/>
            <a:r>
              <a:rPr lang="de-CH" dirty="0"/>
              <a:t>Nähern sich Schritt für Schritt einer Lösung an</a:t>
            </a:r>
          </a:p>
          <a:p>
            <a:pPr lvl="1"/>
            <a:r>
              <a:rPr lang="de-CH" dirty="0"/>
              <a:t>Populationsmodelle</a:t>
            </a:r>
          </a:p>
          <a:p>
            <a:pPr lvl="1"/>
            <a:r>
              <a:rPr lang="de-CH" dirty="0"/>
              <a:t>Stochastische Prozesse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052A7AD-F7FF-A884-60A2-4DA505DD6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024" y="4112453"/>
            <a:ext cx="4513584" cy="2382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nhaltsplatzhalter 9">
            <a:extLst>
              <a:ext uri="{FF2B5EF4-FFF2-40B4-BE49-F238E27FC236}">
                <a16:creationId xmlns:a16="http://schemas.microsoft.com/office/drawing/2014/main" id="{2BFA27B7-0405-1CFB-F186-220B7DAEADE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1959" y="1604426"/>
            <a:ext cx="5305425" cy="4333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604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3B363DDC-EFE7-A7CE-E4C5-6049C1AE1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035" y="1450033"/>
            <a:ext cx="8039100" cy="4135437"/>
          </a:xfrm>
        </p:spPr>
        <p:txBody>
          <a:bodyPr anchor="ctr"/>
          <a:lstStyle/>
          <a:p>
            <a:r>
              <a:rPr lang="de-CH" dirty="0"/>
              <a:t>Zahlendarstellung</a:t>
            </a:r>
          </a:p>
        </p:txBody>
      </p:sp>
    </p:spTree>
    <p:extLst>
      <p:ext uri="{BB962C8B-B14F-4D97-AF65-F5344CB8AC3E}">
        <p14:creationId xmlns:p14="http://schemas.microsoft.com/office/powerpoint/2010/main" val="3451825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0B45C-6FFE-0D25-5BC0-2F5152AE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Dezimalsystem, Binärsystem, b-adisches System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628593-658C-B461-72F9-79D0304E06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72E69F-665A-F79E-3B31-B9A7D30DED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8</a:t>
            </a:fld>
            <a:endParaRPr lang="de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66403278-9D89-29AD-10AA-9037ABE15C46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de-CH" dirty="0"/>
                  <a:t>Darstellung einer Zahl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CH" dirty="0"/>
                  <a:t> bzgl. einer </a:t>
                </a:r>
                <a:r>
                  <a:rPr lang="de-CH" b="1" dirty="0"/>
                  <a:t>Basis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de-CH" dirty="0"/>
                  <a:t> (</a:t>
                </a:r>
                <a14:m>
                  <m:oMath xmlns:m="http://schemas.openxmlformats.org/officeDocument/2006/math"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de-CH" dirty="0"/>
                  <a:t>) mit den </a:t>
                </a:r>
                <a:r>
                  <a:rPr lang="de-CH" b="1" dirty="0"/>
                  <a:t>Ziffern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CH" dirty="0"/>
                  <a:t> (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de-CH" dirty="0"/>
                  <a:t>):</a:t>
                </a:r>
                <a:br>
                  <a:rPr lang="de-CH" dirty="0"/>
                </a:br>
                <a:endParaRPr lang="de-C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=±</m:t>
                      </m:r>
                      <m:nary>
                        <m:naryPr>
                          <m:chr m:val="∑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CH" dirty="0"/>
              </a:p>
              <a:p>
                <a:r>
                  <a:rPr lang="de-CH" dirty="0"/>
                  <a:t>Beispiele</a:t>
                </a:r>
              </a:p>
              <a:p>
                <a:pPr lvl="1"/>
                <a:endParaRPr lang="de-CH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173.02=</m:t>
                    </m:r>
                  </m:oMath>
                </a14:m>
                <a:br>
                  <a:rPr lang="de-CH" dirty="0"/>
                </a:br>
                <a:endParaRPr lang="de-CH" dirty="0"/>
              </a:p>
              <a:p>
                <a:pPr lvl="1"/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de-CH" dirty="0"/>
              </a:p>
              <a:p>
                <a:pPr lvl="1"/>
                <a:endParaRPr lang="de-CH" dirty="0"/>
              </a:p>
              <a:p>
                <a:pPr lvl="1"/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1.001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de-CH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66403278-9D89-29AD-10AA-9037ABE15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1435" t="-156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1BB41A9-1C89-A2FC-B611-B77F1EDF827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dirty="0"/>
                  <a:t>Umrechnung vom Dezimalsystem ins Binärsystem:</a:t>
                </a:r>
              </a:p>
              <a:p>
                <a:pPr lvl="1"/>
                <a:endParaRPr lang="de-CH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de-CH" b="0" dirty="0"/>
              </a:p>
              <a:p>
                <a:pPr lvl="1"/>
                <a:endParaRPr lang="de-CH" dirty="0"/>
              </a:p>
              <a:p>
                <a:pPr lvl="1"/>
                <a:endParaRPr lang="de-CH" dirty="0"/>
              </a:p>
              <a:p>
                <a:pPr lvl="1"/>
                <a:endParaRPr lang="de-CH" dirty="0"/>
              </a:p>
              <a:p>
                <a:pPr lvl="1"/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de-CH" dirty="0"/>
              </a:p>
              <a:p>
                <a:pPr lvl="1"/>
                <a:endParaRPr lang="de-CH" dirty="0"/>
              </a:p>
              <a:p>
                <a:pPr lvl="1"/>
                <a:endParaRPr lang="de-CH" dirty="0"/>
              </a:p>
              <a:p>
                <a:pPr marL="457200" lvl="1" indent="0">
                  <a:buNone/>
                </a:pPr>
                <a:r>
                  <a:rPr lang="de-CH" dirty="0">
                    <a:hlinkClick r:id="rId3"/>
                  </a:rPr>
                  <a:t>www.matheretter.de/rechner/dezimalbinar</a:t>
                </a:r>
                <a:endParaRPr lang="de-CH" dirty="0"/>
              </a:p>
              <a:p>
                <a:pPr marL="457200" lvl="1" indent="0">
                  <a:buNone/>
                </a:pPr>
                <a:endParaRPr lang="de-CH" dirty="0"/>
              </a:p>
              <a:p>
                <a:pPr marL="457200" lvl="1" indent="0">
                  <a:buNone/>
                </a:pPr>
                <a:r>
                  <a:rPr lang="de-CH" b="0" dirty="0"/>
                  <a:t>Die Dezimalzahl 0.1 lässt sich im Binärsystem nur mit unendlich vielen Stellen darstellen!</a:t>
                </a:r>
              </a:p>
              <a:p>
                <a:pPr marL="457200" lvl="1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1BB41A9-1C89-A2FC-B611-B77F1EDF8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4"/>
                <a:stretch>
                  <a:fillRect l="-1436" t="-1563" r="-2099" b="-108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26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0B45C-6FFE-0D25-5BC0-2F5152AE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Dezimalsystem, Binärsystem, b-adisches System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628593-658C-B461-72F9-79D0304E06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72E69F-665A-F79E-3B31-B9A7D30DED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9</a:t>
            </a:fld>
            <a:endParaRPr lang="de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66403278-9D89-29AD-10AA-9037ABE15C46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de-CH" dirty="0"/>
                  <a:t>Darstellung einer Zahl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CH" dirty="0"/>
                  <a:t> bzgl. einer </a:t>
                </a:r>
                <a:r>
                  <a:rPr lang="de-CH" b="1" dirty="0"/>
                  <a:t>Basis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de-CH" dirty="0"/>
                  <a:t> (</a:t>
                </a:r>
                <a14:m>
                  <m:oMath xmlns:m="http://schemas.openxmlformats.org/officeDocument/2006/math"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de-CH" dirty="0"/>
                  <a:t>) mit den </a:t>
                </a:r>
                <a:r>
                  <a:rPr lang="de-CH" b="1" dirty="0"/>
                  <a:t>Ziffern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CH" dirty="0"/>
                  <a:t> (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de-CH" dirty="0"/>
                  <a:t>):</a:t>
                </a:r>
                <a:br>
                  <a:rPr lang="de-CH" dirty="0"/>
                </a:br>
                <a:endParaRPr lang="de-C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=±</m:t>
                      </m:r>
                      <m:nary>
                        <m:naryPr>
                          <m:chr m:val="∑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CH" dirty="0"/>
              </a:p>
              <a:p>
                <a:r>
                  <a:rPr lang="de-CH" dirty="0"/>
                  <a:t>Beispiele</a:t>
                </a:r>
              </a:p>
              <a:p>
                <a:pPr lvl="1"/>
                <a:endParaRPr lang="de-CH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173.02=1⋅</m:t>
                    </m:r>
                    <m:sSup>
                      <m:sSupPr>
                        <m:ctrlPr>
                          <a:rPr lang="de-CH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+7⋅</m:t>
                    </m:r>
                    <m:sSup>
                      <m:sSupPr>
                        <m:ctrlPr>
                          <a:rPr lang="de-CH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+3⋅</m:t>
                    </m:r>
                    <m:sSup>
                      <m:sSupPr>
                        <m:ctrlPr>
                          <a:rPr lang="de-CH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+2⋅</m:t>
                    </m:r>
                    <m:sSup>
                      <m:sSupPr>
                        <m:ctrlPr>
                          <a:rPr lang="de-CH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br>
                  <a:rPr lang="de-CH" sz="1600" dirty="0"/>
                </a:br>
                <a:endParaRPr lang="de-CH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=1⋅</m:t>
                    </m:r>
                    <m:sSup>
                      <m:sSup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+1⋅</m:t>
                    </m:r>
                    <m:sSup>
                      <m:sSup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+0⋅</m:t>
                    </m:r>
                    <m:sSup>
                      <m:sSup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+1⋅</m:t>
                    </m:r>
                    <m:sSup>
                      <m:sSup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de-CH" sz="1600" dirty="0"/>
              </a:p>
              <a:p>
                <a:pPr lvl="1"/>
                <a:endParaRPr lang="de-CH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1.001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=1⋅</m:t>
                    </m:r>
                    <m:sSup>
                      <m:sSup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+1⋅</m:t>
                    </m:r>
                    <m:sSup>
                      <m:sSup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=1.125</m:t>
                    </m:r>
                  </m:oMath>
                </a14:m>
                <a:endParaRPr lang="de-CH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66403278-9D89-29AD-10AA-9037ABE15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1435" t="-156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1BB41A9-1C89-A2FC-B611-B77F1EDF827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de-CH" dirty="0"/>
                  <a:t>Umrechnung vom Dezimalsystem ins Binärsystem:</a:t>
                </a:r>
              </a:p>
              <a:p>
                <a:pPr lvl="1"/>
                <a:endParaRPr lang="de-CH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CH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800" b="0" i="1" smtClean="0">
                        <a:latin typeface="Cambria Math" panose="02040503050406030204" pitchFamily="18" charset="0"/>
                      </a:rPr>
                      <m:t>=18=1⋅</m:t>
                    </m:r>
                    <m:sSup>
                      <m:sSupPr>
                        <m:ctrlPr>
                          <a:rPr lang="de-CH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de-CH" sz="1800" b="0" i="1" smtClean="0">
                        <a:latin typeface="Cambria Math" panose="02040503050406030204" pitchFamily="18" charset="0"/>
                      </a:rPr>
                      <m:t>+1⋅</m:t>
                    </m:r>
                    <m:sSup>
                      <m:sSupPr>
                        <m:ctrlPr>
                          <a:rPr lang="de-CH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de-CH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800" b="0" i="1" smtClean="0">
                            <a:latin typeface="Cambria Math" panose="02040503050406030204" pitchFamily="18" charset="0"/>
                          </a:rPr>
                          <m:t>10010</m:t>
                        </m:r>
                      </m:e>
                      <m:sub>
                        <m:r>
                          <a:rPr lang="de-CH" sz="1800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</m:oMath>
                </a14:m>
                <a:endParaRPr lang="de-CH" sz="1800" b="0" dirty="0"/>
              </a:p>
              <a:p>
                <a:pPr lvl="1"/>
                <a:endParaRPr lang="de-CH" sz="1800" dirty="0"/>
              </a:p>
              <a:p>
                <a:pPr lvl="1"/>
                <a:endParaRPr lang="de-CH" sz="1800" dirty="0"/>
              </a:p>
              <a:p>
                <a:pPr lvl="1"/>
                <a:endParaRPr lang="de-CH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de-CH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800" b="0" i="1" dirty="0" smtClean="0">
                        <a:latin typeface="Cambria Math" panose="02040503050406030204" pitchFamily="18" charset="0"/>
                      </a:rPr>
                      <m:t>=0.1=1⋅</m:t>
                    </m:r>
                    <m:sSup>
                      <m:sSupPr>
                        <m:ctrlPr>
                          <a:rPr lang="de-CH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8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de-CH" sz="1800" b="0" i="1" dirty="0" smtClean="0">
                        <a:latin typeface="Cambria Math" panose="02040503050406030204" pitchFamily="18" charset="0"/>
                      </a:rPr>
                      <m:t>+1⋅</m:t>
                    </m:r>
                    <m:sSup>
                      <m:sSupPr>
                        <m:ctrlPr>
                          <a:rPr lang="de-CH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CH" sz="1800" b="0" i="1" dirty="0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de-CH" sz="1800" b="0" i="1" dirty="0" smtClean="0">
                        <a:latin typeface="Cambria Math" panose="02040503050406030204" pitchFamily="18" charset="0"/>
                      </a:rPr>
                      <m:t>+…=0.0</m:t>
                    </m:r>
                    <m:sSub>
                      <m:sSubPr>
                        <m:ctrlPr>
                          <a:rPr lang="de-CH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CH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800" b="0" i="1" dirty="0" smtClean="0">
                                <a:latin typeface="Cambria Math" panose="02040503050406030204" pitchFamily="18" charset="0"/>
                              </a:rPr>
                              <m:t>0011</m:t>
                            </m:r>
                          </m:e>
                        </m:acc>
                      </m:e>
                      <m:sub>
                        <m:r>
                          <a:rPr lang="de-CH" sz="1800" b="0" i="1" dirty="0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</m:oMath>
                </a14:m>
                <a:endParaRPr lang="de-CH" b="0" dirty="0"/>
              </a:p>
              <a:p>
                <a:pPr lvl="1"/>
                <a:endParaRPr lang="de-CH" dirty="0"/>
              </a:p>
              <a:p>
                <a:pPr marL="457200" lvl="1" indent="0">
                  <a:buNone/>
                </a:pPr>
                <a:endParaRPr lang="de-CH" b="0" dirty="0"/>
              </a:p>
              <a:p>
                <a:pPr marL="457200" lvl="1" indent="0">
                  <a:buNone/>
                </a:pPr>
                <a:r>
                  <a:rPr lang="de-CH" dirty="0">
                    <a:hlinkClick r:id="rId3"/>
                  </a:rPr>
                  <a:t>www.matheretter.de/rechner/dezimalbinar</a:t>
                </a:r>
                <a:endParaRPr lang="de-CH" dirty="0"/>
              </a:p>
              <a:p>
                <a:pPr marL="457200" lvl="1" indent="0">
                  <a:buNone/>
                </a:pPr>
                <a:endParaRPr lang="de-CH" dirty="0"/>
              </a:p>
              <a:p>
                <a:pPr marL="457200" lvl="1" indent="0">
                  <a:buNone/>
                </a:pPr>
                <a:r>
                  <a:rPr lang="de-CH" b="0" dirty="0"/>
                  <a:t>Die Dezimalzahl 0.1 lässt sich im Binärsystem nur mit unendlich vielen Stellen darstellen.</a:t>
                </a:r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1BB41A9-1C89-A2FC-B611-B77F1EDF8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4"/>
                <a:stretch>
                  <a:fillRect l="-1436" t="-1563" r="-2099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47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053479-33F8-50BC-5207-C7DA5069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Gleitkommadarstellung (Floating Point)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15987B-BAF7-8CC5-ABBD-D635CEB11F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53D10F-D07A-1F33-0810-BAC68AC514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10</a:t>
            </a:fld>
            <a:endParaRPr lang="de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0DC0199-DD1E-0065-94E7-A2C927B0676F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de-CH" dirty="0"/>
                  <a:t>Darstellung im Computer</a:t>
                </a:r>
              </a:p>
              <a:p>
                <a:endParaRPr lang="de-C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de-CH" b="0" dirty="0"/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0DC0199-DD1E-0065-94E7-A2C927B06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1435" t="-156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E6B7F05-1B6A-FFAF-B2D2-3A6A6B6E6F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Grösste darstellbare Mantisse: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r>
              <a:rPr lang="de-CH" dirty="0"/>
              <a:t>Grösster darstellbarer Exponent:</a:t>
            </a:r>
          </a:p>
          <a:p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1D48820-3343-5896-DEED-CDC62F76B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2423" y="2746335"/>
            <a:ext cx="4277024" cy="228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77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3B363DDC-EFE7-A7CE-E4C5-6049C1AE1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035" y="1450033"/>
            <a:ext cx="8039100" cy="4135437"/>
          </a:xfrm>
        </p:spPr>
        <p:txBody>
          <a:bodyPr anchor="ctr"/>
          <a:lstStyle/>
          <a:p>
            <a:r>
              <a:rPr lang="de-CH" dirty="0"/>
              <a:t>Fehlertypen</a:t>
            </a:r>
            <a:br>
              <a:rPr lang="de-CH" dirty="0"/>
            </a:br>
            <a:br>
              <a:rPr lang="de-CH" dirty="0"/>
            </a:br>
            <a:r>
              <a:rPr lang="de-CH" dirty="0">
                <a:solidFill>
                  <a:schemeClr val="accent2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 Jupyter Notebook</a:t>
            </a:r>
            <a:endParaRPr lang="de-CH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953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Kreis, Schwarz, Stern, Astronomie enthält.&#10;&#10;KI-generierte Inhalte können fehlerhaft sein.">
            <a:extLst>
              <a:ext uri="{FF2B5EF4-FFF2-40B4-BE49-F238E27FC236}">
                <a16:creationId xmlns:a16="http://schemas.microsoft.com/office/drawing/2014/main" id="{CCF2B464-5AB9-8766-64AB-D0AE8AD1A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853" y="811923"/>
            <a:ext cx="1930445" cy="1930445"/>
          </a:xfrm>
          <a:prstGeom prst="rect">
            <a:avLst/>
          </a:prstGeom>
        </p:spPr>
      </p:pic>
      <p:pic>
        <p:nvPicPr>
          <p:cNvPr id="7" name="Grafik 6" descr="Ein Bild, das Schwarz, Kreis, Screenshot, Schwarzweiß enthält.&#10;&#10;KI-generierte Inhalte können fehlerhaft sein.">
            <a:extLst>
              <a:ext uri="{FF2B5EF4-FFF2-40B4-BE49-F238E27FC236}">
                <a16:creationId xmlns:a16="http://schemas.microsoft.com/office/drawing/2014/main" id="{2D99C864-9892-3EF1-55C0-5832A23F6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775" y="827743"/>
            <a:ext cx="1930445" cy="1930445"/>
          </a:xfrm>
          <a:prstGeom prst="rect">
            <a:avLst/>
          </a:prstGeom>
        </p:spPr>
      </p:pic>
      <p:pic>
        <p:nvPicPr>
          <p:cNvPr id="6" name="Grafik 5" descr="Ein Bild, das Kreis, Schwarz, Stern, Astronomie enthält.&#10;&#10;KI-generierte Inhalte können fehlerhaft sein.">
            <a:extLst>
              <a:ext uri="{FF2B5EF4-FFF2-40B4-BE49-F238E27FC236}">
                <a16:creationId xmlns:a16="http://schemas.microsoft.com/office/drawing/2014/main" id="{BDB05B86-3F19-2DC0-3B17-5C7942FA3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537" y="827743"/>
            <a:ext cx="1914625" cy="191462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C4F4F984-4D5F-564D-C23D-BE8DD787CEA4}"/>
              </a:ext>
            </a:extLst>
          </p:cNvPr>
          <p:cNvSpPr txBox="1"/>
          <p:nvPr/>
        </p:nvSpPr>
        <p:spPr>
          <a:xfrm>
            <a:off x="1113348" y="3015821"/>
            <a:ext cx="9965301" cy="327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Wo nicht anders genannt, steht dieses Werk unter der Lizenz CC BY-SA 4.0, https://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creativecommons.org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licenses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by-sa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/4.0/, Lukas Hollenstein / ZHAW, ICLS Institute 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 Computational Life Sciences (2025)</a:t>
            </a:r>
          </a:p>
          <a:p>
            <a:pPr algn="ctr">
              <a:lnSpc>
                <a:spcPts val="2500"/>
              </a:lnSpc>
            </a:pPr>
            <a:endParaRPr lang="de-CH" noProof="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Die Marke ZHAW ist von der vorliegenden Lizenz CC BY-SA 4.0,​</a:t>
            </a: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creativecommons.org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licenses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by-sa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/4.0/, unberührt. Gemäss Abschnitt 2.b.2 der Lizenz werden Patent- und Kennzeichenrechte durch die vorliegende Public License nicht lizenziert.</a:t>
            </a:r>
          </a:p>
          <a:p>
            <a:pPr algn="ctr">
              <a:lnSpc>
                <a:spcPts val="2500"/>
              </a:lnSpc>
            </a:pPr>
            <a:endParaRPr lang="de-CH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Die erkennbaren Personen haben sich schriftlich mit der Nutzung zu Lern- und Lehrzwecken und der Veröffentlichung unter der vorliegenden Lizenz einverstanden erklärt.​</a:t>
            </a:r>
            <a:r>
              <a:rPr lang="de-CH" noProof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B85D2C-64FE-2692-5748-F97A561A01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426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noProof="0" smtClean="0"/>
              <a:pPr/>
              <a:t>12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4235487789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ICLS">
  <a:themeElements>
    <a:clrScheme name="ADLS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2EAF9B"/>
      </a:accent1>
      <a:accent2>
        <a:srgbClr val="B35F5F"/>
      </a:accent2>
      <a:accent3>
        <a:srgbClr val="4593D3"/>
      </a:accent3>
      <a:accent4>
        <a:srgbClr val="0064A6"/>
      </a:accent4>
      <a:accent5>
        <a:srgbClr val="7E93A7"/>
      </a:accent5>
      <a:accent6>
        <a:srgbClr val="A05EBA"/>
      </a:accent6>
      <a:hlink>
        <a:srgbClr val="009999"/>
      </a:hlink>
      <a:folHlink>
        <a:srgbClr val="99CC00"/>
      </a:folHlink>
    </a:clrScheme>
    <a:fontScheme name="Arial Rounded - Arial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rstes-Treffen-20230209_2.pptx" id="{EB71FD50-E6FC-4E87-B8A9-489C6D623BE5}" vid="{F134041A-2A52-474D-9031-9053EBEE32A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F5472B98498441B4A1BAC358ABA960" ma:contentTypeVersion="17" ma:contentTypeDescription="Ein neues Dokument erstellen." ma:contentTypeScope="" ma:versionID="36a717fb42dc34690412ceb807c86fd3">
  <xsd:schema xmlns:xsd="http://www.w3.org/2001/XMLSchema" xmlns:xs="http://www.w3.org/2001/XMLSchema" xmlns:p="http://schemas.microsoft.com/office/2006/metadata/properties" xmlns:ns2="669cc249-ff44-44bd-9245-9acaabead0fc" xmlns:ns3="68628b2f-7e15-4bb9-b45d-9b408bd3f434" xmlns:ns4="a93a847e-07ec-43eb-a88c-b18616081de6" targetNamespace="http://schemas.microsoft.com/office/2006/metadata/properties" ma:root="true" ma:fieldsID="ae743aa89e72b03c3906dc9cc64e335e" ns2:_="" ns3:_="" ns4:_="">
    <xsd:import namespace="669cc249-ff44-44bd-9245-9acaabead0fc"/>
    <xsd:import namespace="68628b2f-7e15-4bb9-b45d-9b408bd3f434"/>
    <xsd:import namespace="a93a847e-07ec-43eb-a88c-b18616081d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SharedWithUsers" minOccurs="0"/>
                <xsd:element ref="ns4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cc249-ff44-44bd-9245-9acaabead0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19e3ed14-352d-4aa2-a63b-0b06d7ab5f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28b2f-7e15-4bb9-b45d-9b408bd3f43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b3fef38-8b2c-4616-b252-96f984329c4a}" ma:internalName="TaxCatchAll" ma:showField="CatchAllData" ma:web="a93a847e-07ec-43eb-a88c-b18616081d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a847e-07ec-43eb-a88c-b18616081de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9cc249-ff44-44bd-9245-9acaabead0fc">
      <Terms xmlns="http://schemas.microsoft.com/office/infopath/2007/PartnerControls"/>
    </lcf76f155ced4ddcb4097134ff3c332f>
    <TaxCatchAll xmlns="68628b2f-7e15-4bb9-b45d-9b408bd3f43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330F7B-DCF3-4E46-BDDE-3176CFBD3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cc249-ff44-44bd-9245-9acaabead0fc"/>
    <ds:schemaRef ds:uri="68628b2f-7e15-4bb9-b45d-9b408bd3f434"/>
    <ds:schemaRef ds:uri="a93a847e-07ec-43eb-a88c-b18616081d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91F3E0-F3F9-40EA-86AD-630996158F76}">
  <ds:schemaRefs>
    <ds:schemaRef ds:uri="a93a847e-07ec-43eb-a88c-b18616081de6"/>
    <ds:schemaRef ds:uri="http://purl.org/dc/dcmitype/"/>
    <ds:schemaRef ds:uri="669cc249-ff44-44bd-9245-9acaabead0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68628b2f-7e15-4bb9-b45d-9b408bd3f434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86CF15C-D95C-44C7-B312-F391FDA979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ADLS-Vorlage</Template>
  <TotalTime>0</TotalTime>
  <Words>575</Words>
  <Application>Microsoft Macintosh PowerPoint</Application>
  <PresentationFormat>Breitbild</PresentationFormat>
  <Paragraphs>113</Paragraphs>
  <Slides>12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Arial</vt:lpstr>
      <vt:lpstr>Arial Rounded MT Bold</vt:lpstr>
      <vt:lpstr>Calibri</vt:lpstr>
      <vt:lpstr>Cambria Math</vt:lpstr>
      <vt:lpstr>Wingdings</vt:lpstr>
      <vt:lpstr>Master ICLS</vt:lpstr>
      <vt:lpstr>01 – Grundlagen</vt:lpstr>
      <vt:lpstr>Übersicht</vt:lpstr>
      <vt:lpstr>Kontinuierlich Diskret Iterativ</vt:lpstr>
      <vt:lpstr>Kontinuierliche Funktionen   f:R→R</vt:lpstr>
      <vt:lpstr>Diskrete Funktionen   f:R→Z</vt:lpstr>
      <vt:lpstr>Iterative Prozesse (Folgen)   f:N→R</vt:lpstr>
      <vt:lpstr>Zahlendarstellung</vt:lpstr>
      <vt:lpstr>Dezimalsystem, Binärsystem, b-adisches System</vt:lpstr>
      <vt:lpstr>Dezimalsystem, Binärsystem, b-adisches System</vt:lpstr>
      <vt:lpstr>Gleitkommadarstellung (Floating Point)</vt:lpstr>
      <vt:lpstr>Fehlertypen   Jupyter Notebook</vt:lpstr>
      <vt:lpstr>PowerPoint-Präsentation</vt:lpstr>
    </vt:vector>
  </TitlesOfParts>
  <Manager/>
  <Company>ZHAW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NGDS - 01 Grundlagen</dc:title>
  <dc:subject/>
  <dc:creator>Hollenstein Lukas (hols)</dc:creator>
  <cp:keywords/>
  <dc:description/>
  <cp:lastModifiedBy>Lukas Hollenstein</cp:lastModifiedBy>
  <cp:revision>27</cp:revision>
  <cp:lastPrinted>2022-09-20T23:08:52Z</cp:lastPrinted>
  <dcterms:created xsi:type="dcterms:W3CDTF">2023-02-09T07:10:31Z</dcterms:created>
  <dcterms:modified xsi:type="dcterms:W3CDTF">2026-01-27T16:13:04Z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2022-02-18T10:36:19Z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61ec20a6-2549-4ef5-b04e-e875a911c5c4</vt:lpwstr>
  </property>
  <property fmtid="{D5CDD505-2E9C-101B-9397-08002B2CF9AE}" pid="8" name="MSIP_Label_10d9bad3-6dac-4e9a-89a3-89f3b8d247b2_ContentBits">
    <vt:lpwstr>0</vt:lpwstr>
  </property>
  <property fmtid="{D5CDD505-2E9C-101B-9397-08002B2CF9AE}" pid="9" name="ContentTypeId">
    <vt:lpwstr>0x0101000DF5472B98498441B4A1BAC358ABA960</vt:lpwstr>
  </property>
  <property fmtid="{D5CDD505-2E9C-101B-9397-08002B2CF9AE}" pid="10" name="MediaServiceImageTags">
    <vt:lpwstr/>
  </property>
</Properties>
</file>