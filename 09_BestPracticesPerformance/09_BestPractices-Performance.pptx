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sldIdLst>
    <p:sldId id="464" r:id="rId5"/>
    <p:sldId id="456" r:id="rId6"/>
    <p:sldId id="459" r:id="rId7"/>
    <p:sldId id="473" r:id="rId8"/>
    <p:sldId id="465" r:id="rId9"/>
    <p:sldId id="468" r:id="rId10"/>
    <p:sldId id="472" r:id="rId11"/>
    <p:sldId id="466" r:id="rId12"/>
    <p:sldId id="470" r:id="rId13"/>
    <p:sldId id="469" r:id="rId14"/>
    <p:sldId id="471" r:id="rId15"/>
    <p:sldId id="321" r:id="rId16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AAB4"/>
    <a:srgbClr val="0064A7"/>
    <a:srgbClr val="0064A6"/>
    <a:srgbClr val="7E93A7"/>
    <a:srgbClr val="FFFFFF"/>
    <a:srgbClr val="E2F0D9"/>
    <a:srgbClr val="C5E0B4"/>
    <a:srgbClr val="FF0000"/>
    <a:srgbClr val="7FA5D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2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C4DB9DB-6345-4FBB-AF46-CB02900B33DA}" type="datetimeFigureOut">
              <a:rPr lang="de-CH" smtClean="0"/>
              <a:t>27.01.26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EB89508-1F08-41D4-B550-010BC32CFC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297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Lizenz des Werkes</a:t>
            </a:r>
          </a:p>
          <a:p>
            <a:r>
              <a:rPr lang="de-CH"/>
              <a:t>ggf. Disclaimer zu Marken </a:t>
            </a:r>
          </a:p>
          <a:p>
            <a:r>
              <a:rPr lang="de-CH"/>
              <a:t>ggf. Einverständnis abgebildete Personen</a:t>
            </a:r>
          </a:p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7BD64-7B66-4468-84E1-5643791D6B2B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60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Grundlagen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F103B155-CF82-ECE2-A7B0-9AC641885C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6B64B461-364C-4EE1-97F4-F0917D12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6450" y="1508759"/>
            <a:ext cx="80391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CH" noProof="0"/>
              <a:t>Titelmasterformat durch Klicken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55E6F6E-15A8-410A-A8B6-C021973A07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6450" y="4024785"/>
            <a:ext cx="80391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/>
              <a:t>Formatvorlage des Untertitelmasters durch Klicken bearbeiten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54B671C-F384-A811-3A99-E105DE9487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14"/>
          <a:stretch>
            <a:fillRect/>
          </a:stretch>
        </p:blipFill>
        <p:spPr>
          <a:xfrm>
            <a:off x="139699" y="139700"/>
            <a:ext cx="1182205" cy="11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DL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C59F372C-25F5-67AF-B071-13D562B51B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DADD74B-33F6-EBF5-8D01-400B636DE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3035" y="1450034"/>
            <a:ext cx="80391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CH" noProof="0"/>
              <a:t>Titelmasterformat durch Klicken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B08302B2-9A64-9785-4428-3EEDC011E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3035" y="3929709"/>
            <a:ext cx="80391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noProof="0"/>
              <a:t>Formatvorlage des Untertitelmasters durch Klicken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7A96ACC-BB8C-175A-9FE8-1EFF710822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14"/>
          <a:stretch>
            <a:fillRect/>
          </a:stretch>
        </p:blipFill>
        <p:spPr>
          <a:xfrm>
            <a:off x="139699" y="139700"/>
            <a:ext cx="1182205" cy="11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1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426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2884" y="1236132"/>
            <a:ext cx="111810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8771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4A6038F-352F-4BD4-B698-C425DD1AE7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03201" y="1236132"/>
            <a:ext cx="5518680" cy="50704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4FDA00-1214-437B-81E5-A1AAEF54BA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5284" y="1236132"/>
            <a:ext cx="5518680" cy="50704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95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D96325-DB21-49EB-AA31-60EF96DF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3844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3844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903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D064AF6-55A1-4701-8FDE-CECBC57FB1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483137" y="6494811"/>
            <a:ext cx="3067395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B61FBF-27D6-43E2-AC54-EEDC898DF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811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897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395F99-6153-C27E-C2F8-B774635992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DA513A-EF0F-4676-BFB8-06DF099B32F2}" type="slidenum">
              <a:rPr lang="de-CH" smtClean="0"/>
              <a:t>‹Nr.›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38F756-697B-7018-29B6-F66509D315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994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8217C72-0C11-4133-A324-9FBA4A33FE1A}"/>
              </a:ext>
            </a:extLst>
          </p:cNvPr>
          <p:cNvSpPr/>
          <p:nvPr userDrawn="1"/>
        </p:nvSpPr>
        <p:spPr>
          <a:xfrm>
            <a:off x="-1" y="339327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930D5A5-CFA5-4771-A6F7-D939A6E7C46D}"/>
              </a:ext>
            </a:extLst>
          </p:cNvPr>
          <p:cNvSpPr/>
          <p:nvPr userDrawn="1"/>
        </p:nvSpPr>
        <p:spPr>
          <a:xfrm rot="10800000">
            <a:off x="8232000" y="6480001"/>
            <a:ext cx="3960000" cy="1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8B76D7F8-94A6-46E8-A1F4-6CDBF0FF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606811"/>
            <a:ext cx="11181080" cy="4284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300C3AF-4D4A-44C1-A3A8-28215E2A5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83137" y="6494811"/>
            <a:ext cx="306739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endParaRPr lang="de-CH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FF36415-9179-4C8A-8B79-79F1D64F3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534" y="6494811"/>
            <a:ext cx="64146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fld id="{D1FC5AC2-B577-4698-AF76-EE6087FC4032}" type="slidenum">
              <a:rPr lang="de-CH" smtClean="0"/>
              <a:pPr/>
              <a:t>‹Nr.›</a:t>
            </a:fld>
            <a:endParaRPr lang="de-CH"/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A1A64E5A-BB97-465C-9E2D-A4F032C778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93"/>
          <a:stretch/>
        </p:blipFill>
        <p:spPr>
          <a:xfrm>
            <a:off x="11475724" y="87997"/>
            <a:ext cx="628640" cy="668899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9D28FD5-BFA3-4B2C-8042-9525A744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1" y="1236132"/>
            <a:ext cx="11181080" cy="507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D87B312-A562-4B54-9BFF-F4DC1FB21012}"/>
              </a:ext>
            </a:extLst>
          </p:cNvPr>
          <p:cNvSpPr txBox="1"/>
          <p:nvPr userDrawn="1"/>
        </p:nvSpPr>
        <p:spPr>
          <a:xfrm>
            <a:off x="209156" y="0"/>
            <a:ext cx="3605078" cy="36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de-CH" sz="1400" kern="120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ICLS | ADLS </a:t>
            </a:r>
            <a:r>
              <a:rPr lang="de-CH" sz="1400" kern="1200" baseline="0" noProof="0" dirty="0">
                <a:solidFill>
                  <a:schemeClr val="accent5"/>
                </a:solidFill>
                <a:latin typeface="+mj-lt"/>
                <a:ea typeface="+mn-ea"/>
                <a:cs typeface="+mn-cs"/>
              </a:rPr>
              <a:t>|</a:t>
            </a:r>
            <a:r>
              <a:rPr lang="de-CH" sz="1400" kern="1200" baseline="0" noProof="0" dirty="0">
                <a:solidFill>
                  <a:schemeClr val="accent4"/>
                </a:solidFill>
                <a:latin typeface="+mj-lt"/>
                <a:ea typeface="+mn-ea"/>
                <a:cs typeface="+mn-cs"/>
              </a:rPr>
              <a:t> NGDS</a:t>
            </a:r>
            <a:endParaRPr lang="de-CH" sz="1400" kern="1200" noProof="0" dirty="0">
              <a:solidFill>
                <a:schemeClr val="accent4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90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3" r:id="rId3"/>
    <p:sldLayoutId id="2147483675" r:id="rId4"/>
    <p:sldLayoutId id="2147483674" r:id="rId5"/>
    <p:sldLayoutId id="2147483676" r:id="rId6"/>
    <p:sldLayoutId id="214748367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CA9FA5E-2A78-48AA-83BB-80CD30368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2400" y="1450800"/>
            <a:ext cx="8039100" cy="2387600"/>
          </a:xfrm>
        </p:spPr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09 – Best Practices</a:t>
            </a:r>
            <a:br>
              <a:rPr lang="de-CH" dirty="0">
                <a:solidFill>
                  <a:schemeClr val="bg1"/>
                </a:solidFill>
              </a:rPr>
            </a:br>
            <a:r>
              <a:rPr lang="de-CH" dirty="0">
                <a:solidFill>
                  <a:schemeClr val="bg1"/>
                </a:solidFill>
              </a:rPr>
              <a:t>und Performance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43900119-A935-4C72-B786-22F16F128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2400" y="3931200"/>
            <a:ext cx="8039100" cy="1655762"/>
          </a:xfrm>
        </p:spPr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Numerische Grundlagen der Data Science</a:t>
            </a:r>
          </a:p>
          <a:p>
            <a:r>
              <a:rPr lang="de-CH" dirty="0"/>
              <a:t>Lukas Hollenstein</a:t>
            </a:r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31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64E38E75-51A1-4B5D-B1FF-364AC108DC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7630" y="1236131"/>
            <a:ext cx="3859499" cy="38594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B1B3EE3-8C22-4E40-91A6-4A6D14C2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Inhalt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5AEB30-EBFA-475F-8138-8ED61358F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75B39-0E29-4699-A00F-D205E8C60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2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0627C0-157B-4A61-A84B-D49705C48C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Rekapitulation</a:t>
            </a:r>
          </a:p>
          <a:p>
            <a:pPr lvl="1"/>
            <a:r>
              <a:rPr lang="de-CH" dirty="0"/>
              <a:t>Themenübersicht</a:t>
            </a:r>
          </a:p>
          <a:p>
            <a:pPr lvl="1"/>
            <a:r>
              <a:rPr lang="de-CH" dirty="0"/>
              <a:t>Typen von Verfahren</a:t>
            </a:r>
          </a:p>
          <a:p>
            <a:r>
              <a:rPr lang="de-CH" dirty="0"/>
              <a:t>Rest Practices</a:t>
            </a:r>
          </a:p>
          <a:p>
            <a:r>
              <a:rPr lang="de-CH" dirty="0"/>
              <a:t>Performance </a:t>
            </a:r>
            <a:r>
              <a:rPr lang="de-CH" dirty="0" err="1"/>
              <a:t>Profiling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4638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3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Grundlagen:</a:t>
            </a:r>
          </a:p>
          <a:p>
            <a:pPr lvl="1"/>
            <a:r>
              <a:rPr lang="de-CH" dirty="0"/>
              <a:t>Arbeiten mit mehrdimensionalen Arrays</a:t>
            </a:r>
          </a:p>
          <a:p>
            <a:pPr lvl="1"/>
            <a:r>
              <a:rPr lang="de-CH" dirty="0"/>
              <a:t>Lineare Algebra</a:t>
            </a:r>
          </a:p>
          <a:p>
            <a:pPr lvl="1"/>
            <a:r>
              <a:rPr lang="de-CH" dirty="0"/>
              <a:t>Funktionen und Daten darstellen</a:t>
            </a:r>
          </a:p>
          <a:p>
            <a:r>
              <a:rPr lang="de-CH" dirty="0"/>
              <a:t>Zwischenwerte schätzen: Interpolation</a:t>
            </a:r>
          </a:p>
          <a:p>
            <a:r>
              <a:rPr lang="de-CH" dirty="0"/>
              <a:t>Gleichungen lösen: Nullstellen &amp; Fixpunkte</a:t>
            </a:r>
          </a:p>
          <a:p>
            <a:r>
              <a:rPr lang="de-CH" dirty="0"/>
              <a:t>Ableitung in einer und mehreren Variablen</a:t>
            </a:r>
          </a:p>
          <a:p>
            <a:r>
              <a:rPr lang="de-CH" dirty="0"/>
              <a:t>Integration</a:t>
            </a:r>
          </a:p>
          <a:p>
            <a:r>
              <a:rPr lang="de-CH" dirty="0"/>
              <a:t>Anwendungen der Integration</a:t>
            </a:r>
          </a:p>
          <a:p>
            <a:r>
              <a:rPr lang="de-CH" dirty="0"/>
              <a:t>Zufallszahlen simulieren</a:t>
            </a:r>
          </a:p>
          <a:p>
            <a:r>
              <a:rPr lang="de-CH" dirty="0"/>
              <a:t>Stochastische Prozesse</a:t>
            </a:r>
          </a:p>
        </p:txBody>
      </p:sp>
    </p:spTree>
    <p:extLst>
      <p:ext uri="{BB962C8B-B14F-4D97-AF65-F5344CB8AC3E}">
        <p14:creationId xmlns:p14="http://schemas.microsoft.com/office/powerpoint/2010/main" val="265909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Themenübersicht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4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Grundlagen:</a:t>
            </a:r>
          </a:p>
          <a:p>
            <a:pPr lvl="1"/>
            <a:r>
              <a:rPr lang="de-CH" dirty="0"/>
              <a:t>Arbeiten mit mehrdimensionalen Arrays</a:t>
            </a:r>
          </a:p>
          <a:p>
            <a:pPr lvl="1"/>
            <a:r>
              <a:rPr lang="de-CH" dirty="0"/>
              <a:t>Lineare Algebra</a:t>
            </a:r>
          </a:p>
          <a:p>
            <a:pPr lvl="1"/>
            <a:r>
              <a:rPr lang="de-CH" dirty="0"/>
              <a:t>Funktionen und Daten darstellen</a:t>
            </a:r>
          </a:p>
          <a:p>
            <a:r>
              <a:rPr lang="de-CH" dirty="0"/>
              <a:t>Zwischenwerte schätzen: Interpolation</a:t>
            </a:r>
          </a:p>
          <a:p>
            <a:r>
              <a:rPr lang="de-CH" dirty="0"/>
              <a:t>Gleichungen lösen: Nullstellen &amp; Fixpunkte</a:t>
            </a:r>
          </a:p>
          <a:p>
            <a:r>
              <a:rPr lang="de-CH" dirty="0"/>
              <a:t>Ableitung in einer und mehreren Variablen</a:t>
            </a:r>
          </a:p>
          <a:p>
            <a:r>
              <a:rPr lang="de-CH" dirty="0"/>
              <a:t>Integration</a:t>
            </a:r>
          </a:p>
          <a:p>
            <a:r>
              <a:rPr lang="de-CH" dirty="0"/>
              <a:t>Anwendungen der Integration</a:t>
            </a:r>
          </a:p>
          <a:p>
            <a:r>
              <a:rPr lang="de-CH" dirty="0"/>
              <a:t>Zufallszahlen simulieren</a:t>
            </a:r>
          </a:p>
          <a:p>
            <a:r>
              <a:rPr lang="de-CH" dirty="0"/>
              <a:t>Stochastische Prozesse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6A5DEFD-6757-2745-3343-E8C78BA0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118" y="551403"/>
            <a:ext cx="8056414" cy="5802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747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8357C-6E0C-4697-AB82-CB1BAFA3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720602F-D603-4843-AD22-B4DE1EB489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906A0A-F14B-4AD2-B9FF-8E543790A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5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AC464F0-517B-4333-9F5E-587EFF2E384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dirty="0"/>
              <a:t>Grundlagen:</a:t>
            </a:r>
          </a:p>
          <a:p>
            <a:pPr lvl="1"/>
            <a:r>
              <a:rPr lang="de-CH" dirty="0"/>
              <a:t>Arbeiten mit mehrdimensionalen Arrays</a:t>
            </a:r>
          </a:p>
          <a:p>
            <a:pPr lvl="1"/>
            <a:r>
              <a:rPr lang="de-CH" dirty="0"/>
              <a:t>Lineare Algebra</a:t>
            </a:r>
          </a:p>
          <a:p>
            <a:pPr lvl="1"/>
            <a:r>
              <a:rPr lang="de-CH" dirty="0"/>
              <a:t>Funktionen und Daten darstellen</a:t>
            </a:r>
          </a:p>
          <a:p>
            <a:r>
              <a:rPr lang="de-CH" dirty="0"/>
              <a:t>Zwischenwerte schätzen: Interpolation</a:t>
            </a:r>
          </a:p>
          <a:p>
            <a:r>
              <a:rPr lang="de-CH" dirty="0"/>
              <a:t>Gleichungen lösen: Nullstellen &amp; Fixpunkte</a:t>
            </a:r>
          </a:p>
          <a:p>
            <a:r>
              <a:rPr lang="de-CH" dirty="0"/>
              <a:t>Ableitung in einer und mehreren Variablen</a:t>
            </a:r>
          </a:p>
          <a:p>
            <a:r>
              <a:rPr lang="de-CH" dirty="0"/>
              <a:t>Integration</a:t>
            </a:r>
          </a:p>
          <a:p>
            <a:r>
              <a:rPr lang="de-CH" dirty="0"/>
              <a:t>Anwendungen der Integration</a:t>
            </a:r>
          </a:p>
          <a:p>
            <a:r>
              <a:rPr lang="de-CH" b="1" dirty="0"/>
              <a:t>Zufallszahlen simulieren</a:t>
            </a:r>
          </a:p>
          <a:p>
            <a:r>
              <a:rPr lang="de-CH" b="1" dirty="0"/>
              <a:t>Stochastische Prozesse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F883A12-B8BD-73AA-5E6B-A3C7060E5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211" y="274143"/>
            <a:ext cx="3598641" cy="288779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EEB9584-6D91-F4B0-21DD-B46D8F600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57" y="3349770"/>
            <a:ext cx="3730151" cy="295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0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Typen von Verfahren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6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de-CH" b="1" dirty="0"/>
              <a:t>Punktweise Approximation</a:t>
            </a:r>
          </a:p>
          <a:p>
            <a:endParaRPr lang="de-CH" b="1" dirty="0"/>
          </a:p>
          <a:p>
            <a:endParaRPr lang="de-CH" b="1" dirty="0"/>
          </a:p>
          <a:p>
            <a:endParaRPr lang="de-CH" b="1" dirty="0"/>
          </a:p>
          <a:p>
            <a:endParaRPr lang="de-CH" b="1" dirty="0"/>
          </a:p>
          <a:p>
            <a:endParaRPr lang="de-CH" b="1" dirty="0"/>
          </a:p>
          <a:p>
            <a:r>
              <a:rPr lang="de-CH" b="1" dirty="0"/>
              <a:t>Iterative Verfahren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3108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Typen von Verfahren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7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de-CH" b="1" dirty="0"/>
              <a:t>Punktweise Approximation</a:t>
            </a:r>
          </a:p>
          <a:p>
            <a:pPr lvl="1"/>
            <a:r>
              <a:rPr lang="de-CH" dirty="0"/>
              <a:t>Näherungsweise Berechnung um Punkte herum</a:t>
            </a:r>
          </a:p>
          <a:p>
            <a:pPr lvl="1"/>
            <a:r>
              <a:rPr lang="de-CH" dirty="0"/>
              <a:t>Daten vs. Funktion</a:t>
            </a:r>
          </a:p>
          <a:p>
            <a:pPr lvl="1"/>
            <a:r>
              <a:rPr lang="de-CH" dirty="0"/>
              <a:t>Lohnt sich dann wenn kein Modell (Funktion) bekannt ist, oder dieses aufwändig zu berechnen ist.</a:t>
            </a:r>
          </a:p>
          <a:p>
            <a:pPr lvl="1"/>
            <a:r>
              <a:rPr lang="de-CH" dirty="0"/>
              <a:t>Anwendung: Grafische Darstellung, Hilfsmittel für iterative Verfahren</a:t>
            </a:r>
          </a:p>
          <a:p>
            <a:r>
              <a:rPr lang="de-CH" b="1" dirty="0"/>
              <a:t>Iterative Verfahren</a:t>
            </a:r>
          </a:p>
          <a:p>
            <a:pPr lvl="1"/>
            <a:r>
              <a:rPr lang="de-CH" dirty="0"/>
              <a:t>Schrittweise Annäherung an einen speziellen Punkt</a:t>
            </a:r>
          </a:p>
          <a:p>
            <a:pPr lvl="1"/>
            <a:r>
              <a:rPr lang="de-CH" dirty="0"/>
              <a:t>Einfachster Fall: Feste Schrittgrösse</a:t>
            </a:r>
          </a:p>
          <a:p>
            <a:pPr lvl="1"/>
            <a:r>
              <a:rPr lang="de-CH" dirty="0"/>
              <a:t>Erweiterungen: z.B. dynamische Anpassung der Schrittweite oder der </a:t>
            </a:r>
            <a:r>
              <a:rPr lang="de-CH" dirty="0" err="1"/>
              <a:t>Lernrate</a:t>
            </a:r>
            <a:endParaRPr lang="de-CH" dirty="0"/>
          </a:p>
          <a:p>
            <a:pPr lvl="1"/>
            <a:r>
              <a:rPr lang="de-CH" dirty="0"/>
              <a:t>Abbruchkriterien: Konvergenz, Fehlerabschätzung</a:t>
            </a:r>
          </a:p>
          <a:p>
            <a:pPr lvl="1"/>
            <a:r>
              <a:rPr lang="de-CH" dirty="0"/>
              <a:t>Anwendungen: Gleichungen lösen, Optimierung (Anpassen, Lernen, etc.)</a:t>
            </a:r>
          </a:p>
          <a:p>
            <a:pPr lvl="1"/>
            <a:r>
              <a:rPr lang="de-CH" dirty="0"/>
              <a:t>Wenn nur Daten vorhanden, dann müssen Zwischenpunkte geschätzt werden</a:t>
            </a:r>
            <a:br>
              <a:rPr lang="de-CH" dirty="0"/>
            </a:br>
            <a:r>
              <a:rPr lang="de-CH" dirty="0">
                <a:sym typeface="Wingdings" panose="05000000000000000000" pitchFamily="2" charset="2"/>
              </a:rPr>
              <a:t> </a:t>
            </a:r>
            <a:r>
              <a:rPr lang="de-CH" dirty="0"/>
              <a:t>Interpolation oder Modellierung</a:t>
            </a:r>
          </a:p>
        </p:txBody>
      </p:sp>
      <p:sp>
        <p:nvSpPr>
          <p:cNvPr id="6" name="Sprechblase: rechteckig mit abgerundeten Ecken 5">
            <a:extLst>
              <a:ext uri="{FF2B5EF4-FFF2-40B4-BE49-F238E27FC236}">
                <a16:creationId xmlns:a16="http://schemas.microsoft.com/office/drawing/2014/main" id="{148BE7C6-0F6F-B9D0-19C6-1D419C6260A1}"/>
              </a:ext>
            </a:extLst>
          </p:cNvPr>
          <p:cNvSpPr/>
          <p:nvPr/>
        </p:nvSpPr>
        <p:spPr>
          <a:xfrm>
            <a:off x="7511759" y="95250"/>
            <a:ext cx="2508541" cy="1419225"/>
          </a:xfrm>
          <a:prstGeom prst="wedgeRoundRectCallout">
            <a:avLst>
              <a:gd name="adj1" fmla="val -110187"/>
              <a:gd name="adj2" fmla="val 4442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/>
              <a:t>Interpolation</a:t>
            </a:r>
          </a:p>
          <a:p>
            <a:pPr algn="ctr"/>
            <a:r>
              <a:rPr lang="de-CH" dirty="0"/>
              <a:t>Ableitung</a:t>
            </a:r>
          </a:p>
          <a:p>
            <a:pPr algn="ctr"/>
            <a:r>
              <a:rPr lang="de-CH" dirty="0"/>
              <a:t>Trapezregel (h fix)</a:t>
            </a:r>
          </a:p>
        </p:txBody>
      </p:sp>
      <p:sp>
        <p:nvSpPr>
          <p:cNvPr id="7" name="Sprechblase: rechteckig mit abgerundeten Ecken 6">
            <a:extLst>
              <a:ext uri="{FF2B5EF4-FFF2-40B4-BE49-F238E27FC236}">
                <a16:creationId xmlns:a16="http://schemas.microsoft.com/office/drawing/2014/main" id="{D0A01E8C-C200-9D4E-FBFC-58B0326F1C5F}"/>
              </a:ext>
            </a:extLst>
          </p:cNvPr>
          <p:cNvSpPr/>
          <p:nvPr/>
        </p:nvSpPr>
        <p:spPr>
          <a:xfrm>
            <a:off x="9128150" y="2824840"/>
            <a:ext cx="2860966" cy="1419225"/>
          </a:xfrm>
          <a:prstGeom prst="wedgeRoundRectCallout">
            <a:avLst>
              <a:gd name="adj1" fmla="val -135157"/>
              <a:gd name="adj2" fmla="val 3480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Newton &amp; </a:t>
            </a:r>
            <a:r>
              <a:rPr lang="de-DE" dirty="0" err="1"/>
              <a:t>Bisektion</a:t>
            </a:r>
            <a:endParaRPr lang="de-DE" dirty="0"/>
          </a:p>
          <a:p>
            <a:pPr algn="ctr"/>
            <a:r>
              <a:rPr lang="de-DE" dirty="0"/>
              <a:t>Gradient Descent Trapezregel (h dynamischer)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1880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Best Practices: Ziele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8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9488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Best Practices: Ziele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9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b="1" dirty="0"/>
              <a:t>Korrektheit:</a:t>
            </a:r>
          </a:p>
          <a:p>
            <a:pPr lvl="1"/>
            <a:r>
              <a:rPr lang="de-CH" dirty="0"/>
              <a:t>Der Code implementiert das mathematische Konzept korrekt und gibt Fehlermeldungen bei inkonsistenten Parametereinstellungen.</a:t>
            </a:r>
          </a:p>
          <a:p>
            <a:r>
              <a:rPr lang="de-CH" b="1" dirty="0"/>
              <a:t>Genauigkeit &amp; Stabilität:</a:t>
            </a:r>
          </a:p>
          <a:p>
            <a:pPr lvl="1"/>
            <a:r>
              <a:rPr lang="de-CH" dirty="0"/>
              <a:t>Der Code liefert innerhalb einer gegebenen Toleranz genaue Ergebnisse und ist robust gegenüber numerischen Instabilitäten und Rundungsfehlern.</a:t>
            </a:r>
          </a:p>
          <a:p>
            <a:r>
              <a:rPr lang="de-CH" b="1" dirty="0"/>
              <a:t>Effizienz / Performance:</a:t>
            </a:r>
          </a:p>
          <a:p>
            <a:pPr lvl="1"/>
            <a:r>
              <a:rPr lang="de-CH" dirty="0"/>
              <a:t>Der Code ist optimiert, um die bestmögliche Leistung aus der zugrundeliegenden Hardware herauszuholen.</a:t>
            </a:r>
          </a:p>
          <a:p>
            <a:r>
              <a:rPr lang="de-CH" b="1" dirty="0"/>
              <a:t>Modularität:</a:t>
            </a:r>
          </a:p>
          <a:p>
            <a:pPr lvl="1"/>
            <a:r>
              <a:rPr lang="de-CH" dirty="0"/>
              <a:t>Der Code ist modular, kombinierbar und wiederverwendbar, was das Testen und Debuggen erleichtert.</a:t>
            </a:r>
          </a:p>
          <a:p>
            <a:r>
              <a:rPr lang="de-CH" b="1" dirty="0"/>
              <a:t>Verständlichkeit:</a:t>
            </a:r>
          </a:p>
          <a:p>
            <a:pPr lvl="1"/>
            <a:r>
              <a:rPr lang="de-CH" dirty="0"/>
              <a:t>Der Code ist gut strukturiert, dokumentiert und leicht verständlich.</a:t>
            </a:r>
          </a:p>
        </p:txBody>
      </p:sp>
    </p:spTree>
    <p:extLst>
      <p:ext uri="{BB962C8B-B14F-4D97-AF65-F5344CB8AC3E}">
        <p14:creationId xmlns:p14="http://schemas.microsoft.com/office/powerpoint/2010/main" val="112455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Best Practices: Massnahmen (Richtlinien, Prinzipien)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10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8862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1A3DE-38AB-353A-0240-1BE86E2F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Best Practices: Massnahmen (Richtlinien, Prinzipien)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7F0AA7-5D7E-438E-7877-84629CE0ED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CH" dirty="0"/>
              <a:t>09 – Best Practices &amp; Performance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ED9366-8B89-1A62-1140-9DC9A1E10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FC5AC2-B577-4698-AF76-EE6087FC4032}" type="slidenum">
              <a:rPr lang="de-CH" smtClean="0"/>
              <a:pPr/>
              <a:t>11</a:t>
            </a:fld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D9E0C85-1B02-A9B7-4D00-614B5F03F27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CH" b="1" dirty="0"/>
              <a:t>Korrektheit:</a:t>
            </a:r>
          </a:p>
          <a:p>
            <a:pPr lvl="1"/>
            <a:r>
              <a:rPr lang="de-CH" dirty="0"/>
              <a:t>Vorgehen beschreiben (Spezifikation). Inputs auf Konsistenz prüfen. Implementation testen.</a:t>
            </a:r>
          </a:p>
          <a:p>
            <a:r>
              <a:rPr lang="de-CH" b="1" dirty="0"/>
              <a:t>Genauigkeit &amp; Stabilität:</a:t>
            </a:r>
          </a:p>
          <a:p>
            <a:pPr lvl="1"/>
            <a:r>
              <a:rPr lang="de-CH" dirty="0"/>
              <a:t>Vertrauenswürdige bestehende Lösungen nutzen (NumPy, </a:t>
            </a:r>
            <a:r>
              <a:rPr lang="de-CH" dirty="0" err="1"/>
              <a:t>SciPy</a:t>
            </a:r>
            <a:r>
              <a:rPr lang="de-CH" dirty="0"/>
              <a:t>, Pandas, etc.). Numerische Instabilität vermeiden. Toleranzen definieren und sinnvolle Defaults setzen.</a:t>
            </a:r>
          </a:p>
          <a:p>
            <a:r>
              <a:rPr lang="de-CH" b="1" dirty="0"/>
              <a:t>Effizienz / Performance:</a:t>
            </a:r>
          </a:p>
          <a:p>
            <a:pPr lvl="1"/>
            <a:r>
              <a:rPr lang="de-CH" dirty="0"/>
              <a:t>Der Code ist optimiert, um die bestmögliche Leistung aus der zugrundeliegenden Hardware herauszuholen. Vektorisierung, Parallelisierung, Kompilierung nutzen. IO vermeiden.</a:t>
            </a:r>
          </a:p>
          <a:p>
            <a:r>
              <a:rPr lang="de-CH" b="1" dirty="0"/>
              <a:t>Modularität:</a:t>
            </a:r>
          </a:p>
          <a:p>
            <a:pPr lvl="1"/>
            <a:r>
              <a:rPr lang="de-CH" dirty="0"/>
              <a:t>Funktionen erfüllen nur eine Aufgabe. Transformation statt Mutation. Klare und konsistente Schnittstellen.</a:t>
            </a:r>
          </a:p>
          <a:p>
            <a:r>
              <a:rPr lang="de-CH" b="1" dirty="0"/>
              <a:t>Verständlichkeit:</a:t>
            </a:r>
          </a:p>
          <a:p>
            <a:pPr lvl="1"/>
            <a:r>
              <a:rPr lang="de-CH" dirty="0"/>
              <a:t>Der Code ist gut strukturiert. </a:t>
            </a:r>
            <a:r>
              <a:rPr lang="de-CH" dirty="0" err="1"/>
              <a:t>Variabelnamen</a:t>
            </a:r>
            <a:r>
              <a:rPr lang="de-CH" dirty="0"/>
              <a:t> sprechen für sich. Der Code ist dokumentiert.</a:t>
            </a:r>
          </a:p>
        </p:txBody>
      </p:sp>
    </p:spTree>
    <p:extLst>
      <p:ext uri="{BB962C8B-B14F-4D97-AF65-F5344CB8AC3E}">
        <p14:creationId xmlns:p14="http://schemas.microsoft.com/office/powerpoint/2010/main" val="2312604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CCF2B464-5AB9-8766-64AB-D0AE8AD1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853" y="811923"/>
            <a:ext cx="1930445" cy="1930445"/>
          </a:xfrm>
          <a:prstGeom prst="rect">
            <a:avLst/>
          </a:prstGeom>
        </p:spPr>
      </p:pic>
      <p:pic>
        <p:nvPicPr>
          <p:cNvPr id="7" name="Grafik 6" descr="Ein Bild, das Schwarz, Kreis, Screenshot, Schwarzweiß enthält.&#10;&#10;KI-generierte Inhalte können fehlerhaft sein.">
            <a:extLst>
              <a:ext uri="{FF2B5EF4-FFF2-40B4-BE49-F238E27FC236}">
                <a16:creationId xmlns:a16="http://schemas.microsoft.com/office/drawing/2014/main" id="{2D99C864-9892-3EF1-55C0-5832A23F68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775" y="827743"/>
            <a:ext cx="1930445" cy="1930445"/>
          </a:xfrm>
          <a:prstGeom prst="rect">
            <a:avLst/>
          </a:prstGeom>
        </p:spPr>
      </p:pic>
      <p:pic>
        <p:nvPicPr>
          <p:cNvPr id="6" name="Grafik 5" descr="Ein Bild, das Kreis, Schwarz, Stern, Astronomie enthält.&#10;&#10;KI-generierte Inhalte können fehlerhaft sein.">
            <a:extLst>
              <a:ext uri="{FF2B5EF4-FFF2-40B4-BE49-F238E27FC236}">
                <a16:creationId xmlns:a16="http://schemas.microsoft.com/office/drawing/2014/main" id="{BDB05B86-3F19-2DC0-3B17-5C7942FA36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537" y="827743"/>
            <a:ext cx="1914625" cy="1914625"/>
          </a:xfrm>
          <a:prstGeom prst="rect">
            <a:avLst/>
          </a:prstGeom>
        </p:spPr>
      </p:pic>
      <p:sp>
        <p:nvSpPr>
          <p:cNvPr id="2" name="TextBox 7">
            <a:extLst>
              <a:ext uri="{FF2B5EF4-FFF2-40B4-BE49-F238E27FC236}">
                <a16:creationId xmlns:a16="http://schemas.microsoft.com/office/drawing/2014/main" id="{C4F4F984-4D5F-564D-C23D-BE8DD787CEA4}"/>
              </a:ext>
            </a:extLst>
          </p:cNvPr>
          <p:cNvSpPr txBox="1"/>
          <p:nvPr/>
        </p:nvSpPr>
        <p:spPr>
          <a:xfrm>
            <a:off x="1113348" y="3015821"/>
            <a:ext cx="9965301" cy="327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Wo nicht anders genannt, steht dieses Werk unter der Lizenz CC BY-SA 4.0, 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Lukas Hollenstein / ZHAW, ICLS Institute 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 Computational Life Sciences (2025)</a:t>
            </a:r>
          </a:p>
          <a:p>
            <a:pPr algn="ctr">
              <a:lnSpc>
                <a:spcPts val="2500"/>
              </a:lnSpc>
            </a:pPr>
            <a:endParaRPr lang="de-CH" noProof="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Marke ZHAW ist von der vorliegenden Lizenz CC BY-SA 4.0,​</a:t>
            </a: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creativecommons.org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licenses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noProof="0" dirty="0" err="1">
                <a:latin typeface="Arial" panose="020B0604020202020204" pitchFamily="34" charset="0"/>
                <a:cs typeface="Arial" panose="020B0604020202020204" pitchFamily="34" charset="0"/>
              </a:rPr>
              <a:t>by-sa</a:t>
            </a: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/4.0/, unberührt. Gemäss Abschnitt 2.b.2 der Lizenz werden Patent- und Kennzeichenrechte durch die vorliegende Public License nicht lizenziert.</a:t>
            </a:r>
          </a:p>
          <a:p>
            <a:pPr algn="ctr">
              <a:lnSpc>
                <a:spcPts val="2500"/>
              </a:lnSpc>
            </a:pPr>
            <a:endParaRPr lang="de-CH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500"/>
              </a:lnSpc>
            </a:pPr>
            <a:r>
              <a:rPr lang="de-CH" noProof="0" dirty="0">
                <a:latin typeface="Arial" panose="020B0604020202020204" pitchFamily="34" charset="0"/>
                <a:cs typeface="Arial" panose="020B0604020202020204" pitchFamily="34" charset="0"/>
              </a:rPr>
              <a:t>Die erkennbaren Personen haben sich schriftlich mit der Nutzung zu Lern- und Lehrzwecken und der Veröffentlichung unter der vorliegenden Lizenz einverstanden erklärt.​</a:t>
            </a:r>
            <a:r>
              <a:rPr lang="de-CH" noProof="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B85D2C-64FE-2692-5748-F97A561A0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50534" y="6494426"/>
            <a:ext cx="641465" cy="360000"/>
          </a:xfrm>
        </p:spPr>
        <p:txBody>
          <a:bodyPr/>
          <a:lstStyle/>
          <a:p>
            <a:fld id="{D1FC5AC2-B577-4698-AF76-EE6087FC4032}" type="slidenum">
              <a:rPr lang="de-CH" noProof="0" smtClean="0"/>
              <a:pPr/>
              <a:t>12</a:t>
            </a:fld>
            <a:endParaRPr lang="de-CH" noProof="0" dirty="0"/>
          </a:p>
        </p:txBody>
      </p:sp>
    </p:spTree>
    <p:extLst>
      <p:ext uri="{BB962C8B-B14F-4D97-AF65-F5344CB8AC3E}">
        <p14:creationId xmlns:p14="http://schemas.microsoft.com/office/powerpoint/2010/main" val="423548778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ICLS">
  <a:themeElements>
    <a:clrScheme name="ADLS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EAF9B"/>
      </a:accent1>
      <a:accent2>
        <a:srgbClr val="B35F5F"/>
      </a:accent2>
      <a:accent3>
        <a:srgbClr val="4593D3"/>
      </a:accent3>
      <a:accent4>
        <a:srgbClr val="0064A6"/>
      </a:accent4>
      <a:accent5>
        <a:srgbClr val="7E93A7"/>
      </a:accent5>
      <a:accent6>
        <a:srgbClr val="A05EBA"/>
      </a:accent6>
      <a:hlink>
        <a:srgbClr val="009999"/>
      </a:hlink>
      <a:folHlink>
        <a:srgbClr val="99CC00"/>
      </a:folHlink>
    </a:clrScheme>
    <a:fontScheme name="Arial Rounded - Arial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rstes-Treffen-20230209_2.pptx" id="{EB71FD50-E6FC-4E87-B8A9-489C6D623BE5}" vid="{F134041A-2A52-474D-9031-9053EBEE32A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F5472B98498441B4A1BAC358ABA960" ma:contentTypeVersion="18" ma:contentTypeDescription="Ein neues Dokument erstellen." ma:contentTypeScope="" ma:versionID="2a82fbc49ad6996ec03a870b70a98c43">
  <xsd:schema xmlns:xsd="http://www.w3.org/2001/XMLSchema" xmlns:xs="http://www.w3.org/2001/XMLSchema" xmlns:p="http://schemas.microsoft.com/office/2006/metadata/properties" xmlns:ns2="669cc249-ff44-44bd-9245-9acaabead0fc" xmlns:ns3="68628b2f-7e15-4bb9-b45d-9b408bd3f434" xmlns:ns4="a93a847e-07ec-43eb-a88c-b18616081de6" targetNamespace="http://schemas.microsoft.com/office/2006/metadata/properties" ma:root="true" ma:fieldsID="47d59c7acbbf81a10e4913b1693af846" ns2:_="" ns3:_="" ns4:_="">
    <xsd:import namespace="669cc249-ff44-44bd-9245-9acaabead0fc"/>
    <xsd:import namespace="68628b2f-7e15-4bb9-b45d-9b408bd3f434"/>
    <xsd:import namespace="a93a847e-07ec-43eb-a88c-b18616081d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SharedWithUsers" minOccurs="0"/>
                <xsd:element ref="ns4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cc249-ff44-44bd-9245-9acaabead0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19e3ed14-352d-4aa2-a63b-0b06d7ab5f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28b2f-7e15-4bb9-b45d-9b408bd3f43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b3fef38-8b2c-4616-b252-96f984329c4a}" ma:internalName="TaxCatchAll" ma:showField="CatchAllData" ma:web="a93a847e-07ec-43eb-a88c-b18616081d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a847e-07ec-43eb-a88c-b18616081de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9cc249-ff44-44bd-9245-9acaabead0fc">
      <Terms xmlns="http://schemas.microsoft.com/office/infopath/2007/PartnerControls"/>
    </lcf76f155ced4ddcb4097134ff3c332f>
    <TaxCatchAll xmlns="68628b2f-7e15-4bb9-b45d-9b408bd3f4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D9A94C-7C79-443A-88FD-366F4672D7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cc249-ff44-44bd-9245-9acaabead0fc"/>
    <ds:schemaRef ds:uri="68628b2f-7e15-4bb9-b45d-9b408bd3f434"/>
    <ds:schemaRef ds:uri="a93a847e-07ec-43eb-a88c-b18616081d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91F3E0-F3F9-40EA-86AD-630996158F76}">
  <ds:schemaRefs>
    <ds:schemaRef ds:uri="http://schemas.microsoft.com/office/infopath/2007/PartnerControls"/>
    <ds:schemaRef ds:uri="669cc249-ff44-44bd-9245-9acaabead0fc"/>
    <ds:schemaRef ds:uri="http://schemas.microsoft.com/office/2006/metadata/properties"/>
    <ds:schemaRef ds:uri="68628b2f-7e15-4bb9-b45d-9b408bd3f434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a93a847e-07ec-43eb-a88c-b18616081de6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6CF15C-D95C-44C7-B312-F391FDA979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ADLS-Vorlage</Template>
  <TotalTime>0</TotalTime>
  <Words>677</Words>
  <Application>Microsoft Macintosh PowerPoint</Application>
  <PresentationFormat>Breitbild</PresentationFormat>
  <Paragraphs>126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Arial Rounded MT Bold</vt:lpstr>
      <vt:lpstr>Calibri</vt:lpstr>
      <vt:lpstr>Wingdings</vt:lpstr>
      <vt:lpstr>Master ICLS</vt:lpstr>
      <vt:lpstr>09 – Best Practices und Performance</vt:lpstr>
      <vt:lpstr>Inhalt</vt:lpstr>
      <vt:lpstr>Themenübersicht</vt:lpstr>
      <vt:lpstr>Themenübersicht</vt:lpstr>
      <vt:lpstr>Ausblick</vt:lpstr>
      <vt:lpstr>Typen von Verfahren</vt:lpstr>
      <vt:lpstr>Typen von Verfahren</vt:lpstr>
      <vt:lpstr>Best Practices: Ziele</vt:lpstr>
      <vt:lpstr>Best Practices: Ziele</vt:lpstr>
      <vt:lpstr>Best Practices: Massnahmen (Richtlinien, Prinzipien)</vt:lpstr>
      <vt:lpstr>Best Practices: Massnahmen (Richtlinien, Prinzipien)</vt:lpstr>
      <vt:lpstr>PowerPoint-Präsentation</vt:lpstr>
    </vt:vector>
  </TitlesOfParts>
  <Manager/>
  <Company>ZHAW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Best Practices &amp; Performance</dc:title>
  <dc:subject/>
  <dc:creator>Hollenstein Lukas (hols)</dc:creator>
  <cp:keywords/>
  <dc:description/>
  <cp:lastModifiedBy>Lukas Hollenstein</cp:lastModifiedBy>
  <cp:revision>9</cp:revision>
  <cp:lastPrinted>2022-09-20T23:08:52Z</cp:lastPrinted>
  <dcterms:created xsi:type="dcterms:W3CDTF">2023-02-09T07:10:31Z</dcterms:created>
  <dcterms:modified xsi:type="dcterms:W3CDTF">2026-01-27T16:10:27Z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2022-02-18T10:36:19Z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61ec20a6-2549-4ef5-b04e-e875a911c5c4</vt:lpwstr>
  </property>
  <property fmtid="{D5CDD505-2E9C-101B-9397-08002B2CF9AE}" pid="8" name="MSIP_Label_10d9bad3-6dac-4e9a-89a3-89f3b8d247b2_ContentBits">
    <vt:lpwstr>0</vt:lpwstr>
  </property>
  <property fmtid="{D5CDD505-2E9C-101B-9397-08002B2CF9AE}" pid="9" name="ContentTypeId">
    <vt:lpwstr>0x0101000DF5472B98498441B4A1BAC358ABA960</vt:lpwstr>
  </property>
  <property fmtid="{D5CDD505-2E9C-101B-9397-08002B2CF9AE}" pid="10" name="MediaServiceImageTags">
    <vt:lpwstr/>
  </property>
</Properties>
</file>